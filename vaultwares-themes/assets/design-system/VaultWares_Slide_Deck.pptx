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here to talk about VaultWares — but before I do, I want to set a tone. We are going to be calm. We are not going to wave our hands about hackers and fortresses. We are going to talk about something simpler: who gets to know what about you, and what we, as a company, are doing about it. The tagline you see — 'Privacy first. Security in service.' / 'La confidentialité d'abord. La sécurité au service.' — is not marketing. It is the order of operations every product decision goes through. Privacy comes first. Security exists to serve that privacy. Everything else is downstream of those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where we actually are. The data on this slide isn't picked to scare you — it's picked because it's boring and true. Most breaches today are not exotic zero-days. They are stolen credentials, supply-chain compromises, and software no one has audited because no one was allowed to. The closed boxes are leaking, and the cost of that leakage is being paid by people who never agreed to a threat model in the first place. So the honest framing isn't 'the world is on fire.' It's 'the foundations were laid wrong, and we are going to lay them again,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believe. Three things, in plain language. Privacy is the default — not a setting you have to find, not a checkbox buried five menus deep. Open beats opaque — code you can read is code you can trust, and trust that depends on a vendor's good behaviour is not trust, it is hope. And dignity over urgency — we will never write 'CRITICAL SECURITY WARNING' to make you click. If something is wrong, we'll tell you what we noticed and what to do. That's it. Those three principles are why we make what we make, and why we say what we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we keep coming back to. Privacy first. Security in service. In French, with the same weight: 'La confidentialité d'abord. La sécurité au service.' The word order matters. A lot of security companies put security first and treat privacy as an output — something that maybe happens if you've configured everything correctly. We invert that. Privacy is the goal; security is the discipline that protects it. Read together, the sentence says: we are not here to make you feel watched in a friendlier way. We are here to make sure you aren't watched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VaultWares is built one hundred percent on free, open-source software and hardware. That is not a brag — it's a constraint we accepted on purpose. Every line of firmware on a VaultDrive, every protocol in VaultAccess, every schematic for a VaultHSM is auditable. You can read it. Your security team can read it. A regulator can read it. A graduate student in Lyon with a weekend and a curiosity can read it. We think that is the only honest way to ship something that asks people to trust it with their most sensitive data. If we had something to hide in the code, we'd have something to hide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that holds. Four products, one job each, no overlap. VaultDrive — encrypted USB storage with on-device authentication. VaultHSM — a hardware security module for keys that should never touch a general-purpose computer. VaultScan — a biometric terminal where the template never leaves the device. VaultGate — a network appliance for organisations that need to draw a real perimeter. Matte hardware, gold V on the case, FIPS-validated where it matters. Nothing here glows. Nothing here beeps when you insert it. They look like instruments because that's what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that serves. Same shape, different layer. VaultCrypt for encryption — files, volumes, messages, with the algorithm named on the label, not 'military-grade.' VaultAccess for zero-trust identity and access — every request authenticated, every session scoped. VaultBackup for encrypted backup and disaster recovery — your backups are useless to anyone who steals them, including us. VaultMonitor for SIEM and threat detection — calm telemetry, no scoreboard, no gamification. Hardware and software are designed to compose: a VaultDrive unlocks against VaultAccess; VaultMonitor reads VaultGate's logs; the pieces fit because we made them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Bilingual is a product requirement, not a translation step. Every string we ship exists in English and Quebec French at the same time, in the same release, with the same care. French strings can run fifteen to twenty percent longer than English — our layouts are tested for that, not patched after. We do this because the people who use VaultWares in Montréal, in Québec City, in Lyon, and in Brussels are not a localisation backlog. They are users on day one. If your security product makes you switch languages to find the setting you need, the product is broken in two places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some of the language you will not find anywhere in our product, our docs, or our marketing. We don't say 'just' or 'simply' — those words usually mean we couldn't be bothered to write the steps down. We don't say 'military-grade encryption' — we name the algorithm. We don't write 'CRITICAL SECURITY WARNING' in red caps — we tell you what we noticed and what to do about it. We don't say 'Proceed' — we say 'Continue.' These look like small editing decisions. They are not. Every one of them is a choice about how we want to treat the person on the other side of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company. Your data. Your device. Your rules. Vos données. Votre appareil. Vos règles. The rest is implementation detail, and we're happy to go into any of it — the cryptography, the supply chain, the audit cadence, the bilingual QA process. But the message is the one we started with: privacy first, security in service. Thank you.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solidFill>
            <a:srgbClr val="FDF6E3"/>
          </a:solidFill>
          <a:ln/>
        </p:spPr>
      </p:sp>
      <p:pic>
        <p:nvPicPr>
          <p:cNvPr id="3" name="Image 0" descr="preencoded.png">    </p:cNvPr>
          <p:cNvPicPr>
            <a:picLocks noChangeAspect="1"/>
          </p:cNvPicPr>
          <p:nvPr/>
        </p:nvPicPr>
        <p:blipFill>
          <a:blip r:embed="rId1"/>
          <a:stretch>
            <a:fillRect/>
          </a:stretch>
        </p:blipFill>
        <p:spPr>
          <a:xfrm>
            <a:off x="1143000" y="952500"/>
            <a:ext cx="3937000" cy="762000"/>
          </a:xfrm>
          <a:prstGeom prst="rect">
            <a:avLst/>
          </a:prstGeom>
        </p:spPr>
      </p:pic>
      <p:sp>
        <p:nvSpPr>
          <p:cNvPr id="4" name="Text 1"/>
          <p:cNvSpPr/>
          <p:nvPr/>
        </p:nvSpPr>
        <p:spPr>
          <a:xfrm>
            <a:off x="14191077" y="1203614"/>
            <a:ext cx="30425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VW · 2026 — BRAND</a:t>
            </a:r>
            <a:endParaRPr lang="en-US" sz="1800" dirty="0"/>
          </a:p>
        </p:txBody>
      </p:sp>
      <p:sp>
        <p:nvSpPr>
          <p:cNvPr id="5" name="Text 2"/>
          <p:cNvSpPr/>
          <p:nvPr/>
        </p:nvSpPr>
        <p:spPr>
          <a:xfrm>
            <a:off x="1143000" y="3431796"/>
            <a:ext cx="14716124" cy="1313602"/>
          </a:xfrm>
          <a:prstGeom prst="rect">
            <a:avLst/>
          </a:prstGeom>
          <a:noFill/>
          <a:ln/>
        </p:spPr>
        <p:txBody>
          <a:bodyPr wrap="square" lIns="25400" tIns="25400" rIns="25400" bIns="25400" rtlCol="0" anchor="t">
            <a:normAutofit/>
          </a:bodyPr>
          <a:lstStyle/>
          <a:p>
            <a:pPr algn="l" indent="0" marL="0">
              <a:lnSpc>
                <a:spcPct val="108000"/>
              </a:lnSpc>
              <a:buNone/>
            </a:pPr>
            <a:r>
              <a:rPr lang="en-US" sz="9300" spc="-372" kern="0" dirty="0">
                <a:solidFill>
                  <a:srgbClr val="002B36"/>
                </a:solidFill>
                <a:latin typeface="Arial" pitchFamily="34" charset="0"/>
                <a:ea typeface="Arial" pitchFamily="34" charset="-122"/>
                <a:cs typeface="Arial" pitchFamily="34" charset="-120"/>
              </a:rPr>
              <a:t>Privacy first.</a:t>
            </a:r>
            <a:endParaRPr lang="en-US" sz="9300" dirty="0"/>
          </a:p>
        </p:txBody>
      </p:sp>
      <p:sp>
        <p:nvSpPr>
          <p:cNvPr id="6" name="Text 3"/>
          <p:cNvSpPr/>
          <p:nvPr/>
        </p:nvSpPr>
        <p:spPr>
          <a:xfrm>
            <a:off x="1143000" y="4707298"/>
            <a:ext cx="14716124" cy="1313602"/>
          </a:xfrm>
          <a:prstGeom prst="rect">
            <a:avLst/>
          </a:prstGeom>
          <a:noFill/>
          <a:ln/>
        </p:spPr>
        <p:txBody>
          <a:bodyPr wrap="square" lIns="25400" tIns="25400" rIns="25400" bIns="25400" rtlCol="0" anchor="t">
            <a:normAutofit/>
          </a:bodyPr>
          <a:lstStyle/>
          <a:p>
            <a:pPr algn="l" indent="0" marL="0">
              <a:lnSpc>
                <a:spcPct val="108000"/>
              </a:lnSpc>
              <a:buNone/>
            </a:pPr>
            <a:r>
              <a:rPr lang="en-US" sz="9300" spc="-372" kern="0" dirty="0">
                <a:solidFill>
                  <a:srgbClr val="CC9B21"/>
                </a:solidFill>
                <a:latin typeface="Arial" pitchFamily="34" charset="0"/>
                <a:ea typeface="Arial" pitchFamily="34" charset="-122"/>
                <a:cs typeface="Arial" pitchFamily="34" charset="-120"/>
              </a:rPr>
              <a:t>Security in service.</a:t>
            </a:r>
            <a:endParaRPr lang="en-US" sz="9300" dirty="0"/>
          </a:p>
        </p:txBody>
      </p:sp>
      <p:sp>
        <p:nvSpPr>
          <p:cNvPr id="7" name="Text 4"/>
          <p:cNvSpPr/>
          <p:nvPr/>
        </p:nvSpPr>
        <p:spPr>
          <a:xfrm>
            <a:off x="1143000" y="6325646"/>
            <a:ext cx="16482059" cy="667508"/>
          </a:xfrm>
          <a:prstGeom prst="rect">
            <a:avLst/>
          </a:prstGeom>
          <a:noFill/>
          <a:ln/>
        </p:spPr>
        <p:txBody>
          <a:bodyPr wrap="square" lIns="25400" tIns="25400" rIns="25400" bIns="25400" rtlCol="0" anchor="t">
            <a:normAutofit/>
          </a:bodyPr>
          <a:lstStyle/>
          <a:p>
            <a:pPr algn="l" indent="0" marL="0">
              <a:lnSpc>
                <a:spcPct val="118000"/>
              </a:lnSpc>
              <a:buNone/>
            </a:pPr>
            <a:r>
              <a:rPr lang="en-US" sz="4200" spc="-50" kern="0" dirty="0">
                <a:solidFill>
                  <a:srgbClr val="586E75"/>
                </a:solidFill>
                <a:latin typeface="Arial" pitchFamily="34" charset="0"/>
                <a:ea typeface="Arial" pitchFamily="34" charset="-122"/>
                <a:cs typeface="Arial" pitchFamily="34" charset="-120"/>
              </a:rPr>
              <a:t>La confidentialité d'abord. La sécurité au service.</a:t>
            </a:r>
            <a:endParaRPr lang="en-US" sz="4200" dirty="0"/>
          </a:p>
        </p:txBody>
      </p:sp>
      <p:sp>
        <p:nvSpPr>
          <p:cNvPr id="8" name="Text 5"/>
          <p:cNvSpPr/>
          <p:nvPr/>
        </p:nvSpPr>
        <p:spPr>
          <a:xfrm>
            <a:off x="1143000" y="8672440"/>
            <a:ext cx="1914092" cy="312305"/>
          </a:xfrm>
          <a:prstGeom prst="rect">
            <a:avLst/>
          </a:prstGeom>
          <a:noFill/>
          <a:ln/>
        </p:spPr>
        <p:txBody>
          <a:bodyPr wrap="square" lIns="25400" tIns="25400" rIns="25400" bIns="25400" rtlCol="0" anchor="t">
            <a:normAutofit/>
          </a:bodyPr>
          <a:lstStyle/>
          <a:p>
            <a:pPr algn="l" indent="0" marL="0">
              <a:lnSpc>
                <a:spcPct val="120000"/>
              </a:lnSpc>
              <a:buNone/>
            </a:pPr>
            <a:r>
              <a:rPr lang="en-US" sz="1800" spc="288" kern="0" dirty="0">
                <a:solidFill>
                  <a:srgbClr val="586E75"/>
                </a:solidFill>
                <a:latin typeface="Arial" pitchFamily="34" charset="0"/>
                <a:ea typeface="Arial" pitchFamily="34" charset="-122"/>
                <a:cs typeface="Arial" pitchFamily="34" charset="-120"/>
              </a:rPr>
              <a:t>SPEAKER</a:t>
            </a:r>
            <a:endParaRPr lang="en-US" sz="1800" dirty="0"/>
          </a:p>
        </p:txBody>
      </p:sp>
      <p:sp>
        <p:nvSpPr>
          <p:cNvPr id="9" name="Text 6"/>
          <p:cNvSpPr/>
          <p:nvPr/>
        </p:nvSpPr>
        <p:spPr>
          <a:xfrm>
            <a:off x="1143000" y="9028545"/>
            <a:ext cx="1914092" cy="338282"/>
          </a:xfrm>
          <a:prstGeom prst="rect">
            <a:avLst/>
          </a:prstGeom>
          <a:noFill/>
          <a:ln/>
        </p:spPr>
        <p:txBody>
          <a:bodyPr wrap="square" lIns="25400" tIns="25400" rIns="25400" bIns="25400" rtlCol="0" anchor="t">
            <a:normAutofit/>
          </a:bodyPr>
          <a:lstStyle/>
          <a:p>
            <a:pPr algn="l" indent="0" marL="0">
              <a:buNone/>
            </a:pPr>
            <a:r>
              <a:rPr lang="en-US" sz="2100" dirty="0">
                <a:solidFill>
                  <a:srgbClr val="002B36"/>
                </a:solidFill>
                <a:latin typeface="Arial" pitchFamily="34" charset="0"/>
                <a:ea typeface="Arial" pitchFamily="34" charset="-122"/>
                <a:cs typeface="Arial" pitchFamily="34" charset="-120"/>
              </a:rPr>
              <a:t>VaultWares Co.</a:t>
            </a:r>
            <a:endParaRPr lang="en-US" sz="2100" dirty="0"/>
          </a:p>
        </p:txBody>
      </p:sp>
      <p:sp>
        <p:nvSpPr>
          <p:cNvPr id="10" name="Text 7"/>
          <p:cNvSpPr/>
          <p:nvPr/>
        </p:nvSpPr>
        <p:spPr>
          <a:xfrm>
            <a:off x="3590456" y="8672440"/>
            <a:ext cx="1247522" cy="312305"/>
          </a:xfrm>
          <a:prstGeom prst="rect">
            <a:avLst/>
          </a:prstGeom>
          <a:noFill/>
          <a:ln/>
        </p:spPr>
        <p:txBody>
          <a:bodyPr wrap="square" lIns="25400" tIns="25400" rIns="25400" bIns="25400" rtlCol="0" anchor="t">
            <a:normAutofit/>
          </a:bodyPr>
          <a:lstStyle/>
          <a:p>
            <a:pPr algn="l" indent="0" marL="0">
              <a:lnSpc>
                <a:spcPct val="120000"/>
              </a:lnSpc>
              <a:buNone/>
            </a:pPr>
            <a:r>
              <a:rPr lang="en-US" sz="1800" spc="288" kern="0" dirty="0">
                <a:solidFill>
                  <a:srgbClr val="586E75"/>
                </a:solidFill>
                <a:latin typeface="Arial" pitchFamily="34" charset="0"/>
                <a:ea typeface="Arial" pitchFamily="34" charset="-122"/>
                <a:cs typeface="Arial" pitchFamily="34" charset="-120"/>
              </a:rPr>
              <a:t>DATE</a:t>
            </a:r>
            <a:endParaRPr lang="en-US" sz="1800" dirty="0"/>
          </a:p>
        </p:txBody>
      </p:sp>
      <p:sp>
        <p:nvSpPr>
          <p:cNvPr id="11" name="Text 8"/>
          <p:cNvSpPr/>
          <p:nvPr/>
        </p:nvSpPr>
        <p:spPr>
          <a:xfrm>
            <a:off x="3590456" y="9028545"/>
            <a:ext cx="1247522" cy="338282"/>
          </a:xfrm>
          <a:prstGeom prst="rect">
            <a:avLst/>
          </a:prstGeom>
          <a:noFill/>
          <a:ln/>
        </p:spPr>
        <p:txBody>
          <a:bodyPr wrap="square" lIns="25400" tIns="25400" rIns="25400" bIns="25400" rtlCol="0" anchor="t">
            <a:normAutofit/>
          </a:bodyPr>
          <a:lstStyle/>
          <a:p>
            <a:pPr algn="l" indent="0" marL="0">
              <a:buNone/>
            </a:pPr>
            <a:r>
              <a:rPr lang="en-US" sz="2100" dirty="0">
                <a:solidFill>
                  <a:srgbClr val="002B36"/>
                </a:solidFill>
                <a:latin typeface="Arial" pitchFamily="34" charset="0"/>
                <a:ea typeface="Arial" pitchFamily="34" charset="-122"/>
                <a:cs typeface="Arial" pitchFamily="34" charset="-120"/>
              </a:rPr>
              <a:t>May 2026</a:t>
            </a:r>
            <a:endParaRPr lang="en-US" sz="2100" dirty="0"/>
          </a:p>
        </p:txBody>
      </p:sp>
      <p:sp>
        <p:nvSpPr>
          <p:cNvPr id="12" name="Text 9"/>
          <p:cNvSpPr/>
          <p:nvPr/>
        </p:nvSpPr>
        <p:spPr>
          <a:xfrm>
            <a:off x="5371342" y="8672440"/>
            <a:ext cx="2017911" cy="312305"/>
          </a:xfrm>
          <a:prstGeom prst="rect">
            <a:avLst/>
          </a:prstGeom>
          <a:noFill/>
          <a:ln/>
        </p:spPr>
        <p:txBody>
          <a:bodyPr wrap="square" lIns="25400" tIns="25400" rIns="25400" bIns="25400" rtlCol="0" anchor="t">
            <a:normAutofit/>
          </a:bodyPr>
          <a:lstStyle/>
          <a:p>
            <a:pPr algn="l" indent="0" marL="0">
              <a:lnSpc>
                <a:spcPct val="120000"/>
              </a:lnSpc>
              <a:buNone/>
            </a:pPr>
            <a:r>
              <a:rPr lang="en-US" sz="1800" spc="288" kern="0" dirty="0">
                <a:solidFill>
                  <a:srgbClr val="586E75"/>
                </a:solidFill>
                <a:latin typeface="Arial" pitchFamily="34" charset="0"/>
                <a:ea typeface="Arial" pitchFamily="34" charset="-122"/>
                <a:cs typeface="Arial" pitchFamily="34" charset="-120"/>
              </a:rPr>
              <a:t>AUDIENCE</a:t>
            </a:r>
            <a:endParaRPr lang="en-US" sz="1800" dirty="0"/>
          </a:p>
        </p:txBody>
      </p:sp>
      <p:sp>
        <p:nvSpPr>
          <p:cNvPr id="13" name="Text 10"/>
          <p:cNvSpPr/>
          <p:nvPr/>
        </p:nvSpPr>
        <p:spPr>
          <a:xfrm>
            <a:off x="5371342" y="9028545"/>
            <a:ext cx="2017911" cy="338282"/>
          </a:xfrm>
          <a:prstGeom prst="rect">
            <a:avLst/>
          </a:prstGeom>
          <a:noFill/>
          <a:ln/>
        </p:spPr>
        <p:txBody>
          <a:bodyPr wrap="square" lIns="25400" tIns="25400" rIns="25400" bIns="25400" rtlCol="0" anchor="t">
            <a:normAutofit/>
          </a:bodyPr>
          <a:lstStyle/>
          <a:p>
            <a:pPr algn="l" indent="0" marL="0">
              <a:buNone/>
            </a:pPr>
            <a:r>
              <a:rPr lang="en-US" sz="2100" dirty="0">
                <a:solidFill>
                  <a:srgbClr val="002B36"/>
                </a:solidFill>
                <a:latin typeface="Arial" pitchFamily="34" charset="0"/>
                <a:ea typeface="Arial" pitchFamily="34" charset="-122"/>
                <a:cs typeface="Arial" pitchFamily="34" charset="-120"/>
              </a:rPr>
              <a:t>10-min overview</a:t>
            </a:r>
            <a:endParaRPr lang="en-US" sz="2100" dirty="0"/>
          </a:p>
        </p:txBody>
      </p:sp>
      <p:sp>
        <p:nvSpPr>
          <p:cNvPr id="14" name="Text 11"/>
          <p:cNvSpPr/>
          <p:nvPr/>
        </p:nvSpPr>
        <p:spPr>
          <a:xfrm>
            <a:off x="15928667" y="9074727"/>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EN · FR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30425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02 — WHERE WE ARE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364383"/>
            <a:ext cx="14716124" cy="758158"/>
          </a:xfrm>
          <a:prstGeom prst="rect">
            <a:avLst/>
          </a:prstGeom>
          <a:noFill/>
          <a:ln/>
        </p:spPr>
        <p:txBody>
          <a:bodyPr wrap="square" lIns="25400" tIns="25400" rIns="25400" bIns="25400" rtlCol="0" anchor="t">
            <a:normAutofit/>
          </a:bodyPr>
          <a:lstStyle/>
          <a:p>
            <a:pPr algn="l" indent="0" marL="0">
              <a:lnSpc>
                <a:spcPct val="105000"/>
              </a:lnSpc>
              <a:buNone/>
            </a:pPr>
            <a:r>
              <a:rPr lang="en-US" sz="5400" spc="-135" kern="0" dirty="0">
                <a:solidFill>
                  <a:srgbClr val="002B36"/>
                </a:solidFill>
                <a:latin typeface="Arial" pitchFamily="34" charset="0"/>
                <a:ea typeface="Arial" pitchFamily="34" charset="-122"/>
                <a:cs typeface="Arial" pitchFamily="34" charset="-120"/>
              </a:rPr>
              <a:t>The state of trust.</a:t>
            </a:r>
            <a:endParaRPr lang="en-US" sz="5400" dirty="0"/>
          </a:p>
        </p:txBody>
      </p:sp>
      <p:sp>
        <p:nvSpPr>
          <p:cNvPr id="5" name="Text 2"/>
          <p:cNvSpPr/>
          <p:nvPr/>
        </p:nvSpPr>
        <p:spPr>
          <a:xfrm>
            <a:off x="1143000" y="4001041"/>
            <a:ext cx="12753974" cy="866667"/>
          </a:xfrm>
          <a:prstGeom prst="rect">
            <a:avLst/>
          </a:prstGeom>
          <a:noFill/>
          <a:ln/>
        </p:spPr>
        <p:txBody>
          <a:bodyPr wrap="square" lIns="25400" tIns="25400" rIns="25400" bIns="25400" rtlCol="0" anchor="t">
            <a:normAutofit/>
          </a:bodyPr>
          <a:lstStyle/>
          <a:p>
            <a:pPr algn="l" indent="0" marL="0">
              <a:lnSpc>
                <a:spcPct val="145000"/>
              </a:lnSpc>
              <a:buNone/>
            </a:pPr>
            <a:r>
              <a:rPr lang="en-US" sz="2250" spc="-11" kern="0" dirty="0">
                <a:solidFill>
                  <a:srgbClr val="586E75"/>
                </a:solidFill>
                <a:latin typeface="Arial" pitchFamily="34" charset="0"/>
                <a:ea typeface="Arial" pitchFamily="34" charset="-122"/>
                <a:cs typeface="Arial" pitchFamily="34" charset="-120"/>
              </a:rPr>
              <a:t>Most breaches are not exotic. Stolen credentials, unaudited supply chains, code no one was allowed to read.</a:t>
            </a:r>
            <a:endParaRPr lang="en-US" sz="2250" dirty="0"/>
          </a:p>
        </p:txBody>
      </p:sp>
      <p:sp>
        <p:nvSpPr>
          <p:cNvPr id="6" name="Shape 3"/>
          <p:cNvSpPr/>
          <p:nvPr/>
        </p:nvSpPr>
        <p:spPr>
          <a:xfrm>
            <a:off x="1143000" y="5134660"/>
            <a:ext cx="5333999" cy="9525"/>
          </a:xfrm>
          <a:prstGeom prst="rect">
            <a:avLst/>
          </a:prstGeom>
          <a:solidFill>
            <a:srgbClr val="002B36">
              <a:alpha val="16000"/>
            </a:srgbClr>
          </a:solidFill>
          <a:ln/>
        </p:spPr>
      </p:sp>
      <p:sp>
        <p:nvSpPr>
          <p:cNvPr id="7" name="Text 4"/>
          <p:cNvSpPr/>
          <p:nvPr/>
        </p:nvSpPr>
        <p:spPr>
          <a:xfrm>
            <a:off x="1143000" y="5483279"/>
            <a:ext cx="5140889" cy="1124635"/>
          </a:xfrm>
          <a:prstGeom prst="rect">
            <a:avLst/>
          </a:prstGeom>
          <a:noFill/>
          <a:ln/>
        </p:spPr>
        <p:txBody>
          <a:bodyPr wrap="square" lIns="25400" tIns="25400" rIns="25400" bIns="25400" rtlCol="0" anchor="t">
            <a:normAutofit/>
          </a:bodyPr>
          <a:lstStyle/>
          <a:p>
            <a:pPr algn="l" indent="0" marL="0">
              <a:lnSpc>
                <a:spcPct val="92000"/>
              </a:lnSpc>
              <a:buNone/>
            </a:pPr>
            <a:r>
              <a:rPr lang="en-US" sz="9300" spc="-372" kern="0" dirty="0">
                <a:solidFill>
                  <a:srgbClr val="002B36"/>
                </a:solidFill>
                <a:latin typeface="Arial" pitchFamily="34" charset="0"/>
                <a:ea typeface="Arial" pitchFamily="34" charset="-122"/>
                <a:cs typeface="Arial" pitchFamily="34" charset="-120"/>
              </a:rPr>
              <a:t>82 </a:t>
            </a:r>
            <a:pPr algn="l" indent="0" marL="0">
              <a:lnSpc>
                <a:spcPct val="92000"/>
              </a:lnSpc>
              <a:buNone/>
            </a:pPr>
            <a:r>
              <a:rPr lang="en-US" sz="5100" spc="-372" kern="0" dirty="0">
                <a:solidFill>
                  <a:srgbClr val="CC9B21"/>
                </a:solidFill>
                <a:latin typeface="Arial" pitchFamily="34" charset="0"/>
                <a:ea typeface="Arial" pitchFamily="34" charset="-122"/>
                <a:cs typeface="Arial" pitchFamily="34" charset="-120"/>
              </a:rPr>
              <a:t>%</a:t>
            </a:r>
            <a:endParaRPr lang="en-US" sz="9300" dirty="0"/>
          </a:p>
        </p:txBody>
      </p:sp>
      <p:sp>
        <p:nvSpPr>
          <p:cNvPr id="8" name="Text 5"/>
          <p:cNvSpPr/>
          <p:nvPr/>
        </p:nvSpPr>
        <p:spPr>
          <a:xfrm>
            <a:off x="1143000" y="6760314"/>
            <a:ext cx="4709160" cy="706834"/>
          </a:xfrm>
          <a:prstGeom prst="rect">
            <a:avLst/>
          </a:prstGeom>
          <a:noFill/>
          <a:ln/>
        </p:spPr>
        <p:txBody>
          <a:bodyPr wrap="square" lIns="25400" tIns="25400" rIns="25400" bIns="25400" rtlCol="0" anchor="t">
            <a:normAutofit/>
          </a:bodyPr>
          <a:lstStyle/>
          <a:p>
            <a:pPr algn="l" indent="0" marL="0">
              <a:lnSpc>
                <a:spcPct val="135000"/>
              </a:lnSpc>
              <a:buNone/>
            </a:pPr>
            <a:r>
              <a:rPr lang="en-US" sz="1950" spc="-10" kern="0" dirty="0">
                <a:solidFill>
                  <a:srgbClr val="002B36"/>
                </a:solidFill>
                <a:latin typeface="Arial" pitchFamily="34" charset="0"/>
                <a:ea typeface="Arial" pitchFamily="34" charset="-122"/>
                <a:cs typeface="Arial" pitchFamily="34" charset="-120"/>
              </a:rPr>
              <a:t>of breaches involve a human or credential element.</a:t>
            </a:r>
            <a:endParaRPr lang="en-US" sz="1950" dirty="0"/>
          </a:p>
        </p:txBody>
      </p:sp>
      <p:sp>
        <p:nvSpPr>
          <p:cNvPr id="9" name="Text 6"/>
          <p:cNvSpPr/>
          <p:nvPr/>
        </p:nvSpPr>
        <p:spPr>
          <a:xfrm>
            <a:off x="1143000" y="7676644"/>
            <a:ext cx="4709160"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des fuites impliquent un facteur humain ou d'identifiants.</a:t>
            </a:r>
            <a:endParaRPr lang="en-US" sz="1800" dirty="0"/>
          </a:p>
        </p:txBody>
      </p:sp>
      <p:sp>
        <p:nvSpPr>
          <p:cNvPr id="10" name="Shape 7"/>
          <p:cNvSpPr/>
          <p:nvPr/>
        </p:nvSpPr>
        <p:spPr>
          <a:xfrm>
            <a:off x="6476999" y="5134660"/>
            <a:ext cx="5333999" cy="9525"/>
          </a:xfrm>
          <a:prstGeom prst="rect">
            <a:avLst/>
          </a:prstGeom>
          <a:solidFill>
            <a:srgbClr val="002B36">
              <a:alpha val="16000"/>
            </a:srgbClr>
          </a:solidFill>
          <a:ln/>
        </p:spPr>
      </p:sp>
      <p:sp>
        <p:nvSpPr>
          <p:cNvPr id="11" name="Shape 8"/>
          <p:cNvSpPr/>
          <p:nvPr/>
        </p:nvSpPr>
        <p:spPr>
          <a:xfrm>
            <a:off x="6476999" y="5134660"/>
            <a:ext cx="9525" cy="3387508"/>
          </a:xfrm>
          <a:prstGeom prst="rect">
            <a:avLst/>
          </a:prstGeom>
          <a:solidFill>
            <a:srgbClr val="002B36">
              <a:alpha val="10000"/>
            </a:srgbClr>
          </a:solidFill>
          <a:ln/>
        </p:spPr>
      </p:sp>
      <p:sp>
        <p:nvSpPr>
          <p:cNvPr id="12" name="Text 9"/>
          <p:cNvSpPr/>
          <p:nvPr/>
        </p:nvSpPr>
        <p:spPr>
          <a:xfrm>
            <a:off x="6825618" y="5483279"/>
            <a:ext cx="4781811" cy="1124635"/>
          </a:xfrm>
          <a:prstGeom prst="rect">
            <a:avLst/>
          </a:prstGeom>
          <a:noFill/>
          <a:ln/>
        </p:spPr>
        <p:txBody>
          <a:bodyPr wrap="square" lIns="25400" tIns="25400" rIns="25400" bIns="25400" rtlCol="0" anchor="t">
            <a:normAutofit/>
          </a:bodyPr>
          <a:lstStyle/>
          <a:p>
            <a:pPr algn="l" indent="0" marL="0">
              <a:lnSpc>
                <a:spcPct val="92000"/>
              </a:lnSpc>
              <a:buNone/>
            </a:pPr>
            <a:r>
              <a:rPr lang="en-US" sz="9300" spc="-372" kern="0" dirty="0">
                <a:solidFill>
                  <a:srgbClr val="002B36"/>
                </a:solidFill>
                <a:latin typeface="Arial" pitchFamily="34" charset="0"/>
                <a:ea typeface="Arial" pitchFamily="34" charset="-122"/>
                <a:cs typeface="Arial" pitchFamily="34" charset="-120"/>
              </a:rPr>
              <a:t>3 </a:t>
            </a:r>
            <a:pPr algn="l" indent="0" marL="0">
              <a:lnSpc>
                <a:spcPct val="92000"/>
              </a:lnSpc>
              <a:buNone/>
            </a:pPr>
            <a:r>
              <a:rPr lang="en-US" sz="5100" spc="-372" kern="0" dirty="0">
                <a:solidFill>
                  <a:srgbClr val="CC9B21"/>
                </a:solidFill>
                <a:latin typeface="Arial" pitchFamily="34" charset="0"/>
                <a:ea typeface="Arial" pitchFamily="34" charset="-122"/>
                <a:cs typeface="Arial" pitchFamily="34" charset="-120"/>
              </a:rPr>
              <a:t>×</a:t>
            </a:r>
            <a:endParaRPr lang="en-US" sz="9300" dirty="0"/>
          </a:p>
        </p:txBody>
      </p:sp>
      <p:sp>
        <p:nvSpPr>
          <p:cNvPr id="13" name="Text 10"/>
          <p:cNvSpPr/>
          <p:nvPr/>
        </p:nvSpPr>
        <p:spPr>
          <a:xfrm>
            <a:off x="6825618" y="6760314"/>
            <a:ext cx="4709160" cy="706834"/>
          </a:xfrm>
          <a:prstGeom prst="rect">
            <a:avLst/>
          </a:prstGeom>
          <a:noFill/>
          <a:ln/>
        </p:spPr>
        <p:txBody>
          <a:bodyPr wrap="square" lIns="25400" tIns="25400" rIns="25400" bIns="25400" rtlCol="0" anchor="t">
            <a:normAutofit/>
          </a:bodyPr>
          <a:lstStyle/>
          <a:p>
            <a:pPr algn="l" indent="0" marL="0">
              <a:lnSpc>
                <a:spcPct val="135000"/>
              </a:lnSpc>
              <a:buNone/>
            </a:pPr>
            <a:r>
              <a:rPr lang="en-US" sz="1950" spc="-10" kern="0" dirty="0">
                <a:solidFill>
                  <a:srgbClr val="002B36"/>
                </a:solidFill>
                <a:latin typeface="Arial" pitchFamily="34" charset="0"/>
                <a:ea typeface="Arial" pitchFamily="34" charset="-122"/>
                <a:cs typeface="Arial" pitchFamily="34" charset="-120"/>
              </a:rPr>
              <a:t>growth in software supply-chain attacks since 2022.</a:t>
            </a:r>
            <a:endParaRPr lang="en-US" sz="1950" dirty="0"/>
          </a:p>
        </p:txBody>
      </p:sp>
      <p:sp>
        <p:nvSpPr>
          <p:cNvPr id="14" name="Text 11"/>
          <p:cNvSpPr/>
          <p:nvPr/>
        </p:nvSpPr>
        <p:spPr>
          <a:xfrm>
            <a:off x="6825618" y="7676644"/>
            <a:ext cx="4709160"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augmentation des attaques sur la chaîne logicielle depuis 2022.</a:t>
            </a:r>
            <a:endParaRPr lang="en-US" sz="1800" dirty="0"/>
          </a:p>
        </p:txBody>
      </p:sp>
      <p:sp>
        <p:nvSpPr>
          <p:cNvPr id="15" name="Shape 12"/>
          <p:cNvSpPr/>
          <p:nvPr/>
        </p:nvSpPr>
        <p:spPr>
          <a:xfrm>
            <a:off x="11810999" y="5134660"/>
            <a:ext cx="5333999" cy="9525"/>
          </a:xfrm>
          <a:prstGeom prst="rect">
            <a:avLst/>
          </a:prstGeom>
          <a:solidFill>
            <a:srgbClr val="002B36">
              <a:alpha val="16000"/>
            </a:srgbClr>
          </a:solidFill>
          <a:ln/>
        </p:spPr>
      </p:sp>
      <p:sp>
        <p:nvSpPr>
          <p:cNvPr id="16" name="Shape 13"/>
          <p:cNvSpPr/>
          <p:nvPr/>
        </p:nvSpPr>
        <p:spPr>
          <a:xfrm>
            <a:off x="11810999" y="5134660"/>
            <a:ext cx="9525" cy="3387508"/>
          </a:xfrm>
          <a:prstGeom prst="rect">
            <a:avLst/>
          </a:prstGeom>
          <a:solidFill>
            <a:srgbClr val="002B36">
              <a:alpha val="10000"/>
            </a:srgbClr>
          </a:solidFill>
          <a:ln/>
        </p:spPr>
      </p:sp>
      <p:sp>
        <p:nvSpPr>
          <p:cNvPr id="17" name="Text 14"/>
          <p:cNvSpPr/>
          <p:nvPr/>
        </p:nvSpPr>
        <p:spPr>
          <a:xfrm>
            <a:off x="12159618" y="5483279"/>
            <a:ext cx="4781811" cy="1124635"/>
          </a:xfrm>
          <a:prstGeom prst="rect">
            <a:avLst/>
          </a:prstGeom>
          <a:noFill/>
          <a:ln/>
        </p:spPr>
        <p:txBody>
          <a:bodyPr wrap="square" lIns="25400" tIns="25400" rIns="25400" bIns="25400" rtlCol="0" anchor="t">
            <a:normAutofit/>
          </a:bodyPr>
          <a:lstStyle/>
          <a:p>
            <a:pPr algn="l" indent="0" marL="0">
              <a:lnSpc>
                <a:spcPct val="92000"/>
              </a:lnSpc>
              <a:buNone/>
            </a:pPr>
            <a:r>
              <a:rPr lang="en-US" sz="9300" spc="-372" kern="0" dirty="0">
                <a:solidFill>
                  <a:srgbClr val="002B36"/>
                </a:solidFill>
                <a:latin typeface="Arial" pitchFamily="34" charset="0"/>
                <a:ea typeface="Arial" pitchFamily="34" charset="-122"/>
                <a:cs typeface="Arial" pitchFamily="34" charset="-120"/>
              </a:rPr>
              <a:t>$4.9 </a:t>
            </a:r>
            <a:pPr algn="l" indent="0" marL="0">
              <a:lnSpc>
                <a:spcPct val="92000"/>
              </a:lnSpc>
              <a:buNone/>
            </a:pPr>
            <a:r>
              <a:rPr lang="en-US" sz="5100" spc="-372" kern="0" dirty="0">
                <a:solidFill>
                  <a:srgbClr val="CC9B21"/>
                </a:solidFill>
                <a:latin typeface="Arial" pitchFamily="34" charset="0"/>
                <a:ea typeface="Arial" pitchFamily="34" charset="-122"/>
                <a:cs typeface="Arial" pitchFamily="34" charset="-120"/>
              </a:rPr>
              <a:t>M</a:t>
            </a:r>
            <a:endParaRPr lang="en-US" sz="9300" dirty="0"/>
          </a:p>
        </p:txBody>
      </p:sp>
      <p:sp>
        <p:nvSpPr>
          <p:cNvPr id="18" name="Text 15"/>
          <p:cNvSpPr/>
          <p:nvPr/>
        </p:nvSpPr>
        <p:spPr>
          <a:xfrm>
            <a:off x="12159618" y="6760314"/>
            <a:ext cx="4709160" cy="706834"/>
          </a:xfrm>
          <a:prstGeom prst="rect">
            <a:avLst/>
          </a:prstGeom>
          <a:noFill/>
          <a:ln/>
        </p:spPr>
        <p:txBody>
          <a:bodyPr wrap="square" lIns="25400" tIns="25400" rIns="25400" bIns="25400" rtlCol="0" anchor="t">
            <a:normAutofit/>
          </a:bodyPr>
          <a:lstStyle/>
          <a:p>
            <a:pPr algn="l" indent="0" marL="0">
              <a:lnSpc>
                <a:spcPct val="135000"/>
              </a:lnSpc>
              <a:buNone/>
            </a:pPr>
            <a:r>
              <a:rPr lang="en-US" sz="1950" spc="-10" kern="0" dirty="0">
                <a:solidFill>
                  <a:srgbClr val="002B36"/>
                </a:solidFill>
                <a:latin typeface="Arial" pitchFamily="34" charset="0"/>
                <a:ea typeface="Arial" pitchFamily="34" charset="-122"/>
                <a:cs typeface="Arial" pitchFamily="34" charset="-120"/>
              </a:rPr>
              <a:t>global average cost of a single data breach in 2025.</a:t>
            </a:r>
            <a:endParaRPr lang="en-US" sz="1950" dirty="0"/>
          </a:p>
        </p:txBody>
      </p:sp>
      <p:sp>
        <p:nvSpPr>
          <p:cNvPr id="19" name="Text 16"/>
          <p:cNvSpPr/>
          <p:nvPr/>
        </p:nvSpPr>
        <p:spPr>
          <a:xfrm>
            <a:off x="12159618" y="7676644"/>
            <a:ext cx="4709160"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coût moyen mondial d'une fuite en 2025.</a:t>
            </a:r>
            <a:endParaRPr lang="en-US" sz="1800" dirty="0"/>
          </a:p>
        </p:txBody>
      </p:sp>
      <p:sp>
        <p:nvSpPr>
          <p:cNvPr id="20" name="Text 17"/>
          <p:cNvSpPr/>
          <p:nvPr/>
        </p:nvSpPr>
        <p:spPr>
          <a:xfrm>
            <a:off x="1143000" y="9074727"/>
            <a:ext cx="4474296"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Sources cited end of deck</a:t>
            </a:r>
            <a:endParaRPr lang="en-US" sz="1800" dirty="0"/>
          </a:p>
        </p:txBody>
      </p:sp>
      <p:sp>
        <p:nvSpPr>
          <p:cNvPr id="21" name="Text 18"/>
          <p:cNvSpPr/>
          <p:nvPr/>
        </p:nvSpPr>
        <p:spPr>
          <a:xfrm>
            <a:off x="15928667" y="9074727"/>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02 / 10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2684578"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03 — PRINCIPLES</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466488"/>
            <a:ext cx="16482059" cy="918170"/>
          </a:xfrm>
          <a:prstGeom prst="rect">
            <a:avLst/>
          </a:prstGeom>
          <a:noFill/>
          <a:ln/>
        </p:spPr>
        <p:txBody>
          <a:bodyPr wrap="square" lIns="25400" tIns="25400" rIns="25400" bIns="25400" rtlCol="0" anchor="t">
            <a:normAutofit/>
          </a:bodyPr>
          <a:lstStyle/>
          <a:p>
            <a:pPr algn="l" indent="0" marL="0">
              <a:lnSpc>
                <a:spcPct val="105000"/>
              </a:lnSpc>
              <a:buNone/>
            </a:pPr>
            <a:r>
              <a:rPr lang="en-US" sz="6600" spc="-165" kern="0" dirty="0">
                <a:solidFill>
                  <a:srgbClr val="002B36"/>
                </a:solidFill>
                <a:latin typeface="Arial" pitchFamily="34" charset="0"/>
                <a:ea typeface="Arial" pitchFamily="34" charset="-122"/>
                <a:cs typeface="Arial" pitchFamily="34" charset="-120"/>
              </a:rPr>
              <a:t>What we believe.</a:t>
            </a:r>
            <a:endParaRPr lang="en-US" sz="6600" dirty="0"/>
          </a:p>
        </p:txBody>
      </p:sp>
      <p:sp>
        <p:nvSpPr>
          <p:cNvPr id="5" name="Text 2"/>
          <p:cNvSpPr/>
          <p:nvPr/>
        </p:nvSpPr>
        <p:spPr>
          <a:xfrm>
            <a:off x="1143000" y="4670136"/>
            <a:ext cx="838200" cy="736600"/>
          </a:xfrm>
          <a:prstGeom prst="rect">
            <a:avLst/>
          </a:prstGeom>
          <a:noFill/>
          <a:ln/>
        </p:spPr>
        <p:txBody>
          <a:bodyPr wrap="square" lIns="25400" tIns="25400" rIns="25400" bIns="25400" rtlCol="0" anchor="t">
            <a:normAutofit/>
          </a:bodyPr>
          <a:lstStyle/>
          <a:p>
            <a:pPr algn="l" indent="0" marL="0">
              <a:buNone/>
            </a:pPr>
            <a:r>
              <a:rPr lang="en-US" sz="4800" spc="-96" kern="0" dirty="0">
                <a:solidFill>
                  <a:srgbClr val="CC9B21"/>
                </a:solidFill>
                <a:latin typeface="Arial" pitchFamily="34" charset="0"/>
                <a:ea typeface="Arial" pitchFamily="34" charset="-122"/>
                <a:cs typeface="Arial" pitchFamily="34" charset="-120"/>
              </a:rPr>
              <a:t>01</a:t>
            </a:r>
            <a:endParaRPr lang="en-US" sz="4800" dirty="0"/>
          </a:p>
        </p:txBody>
      </p:sp>
      <p:sp>
        <p:nvSpPr>
          <p:cNvPr id="6" name="Text 3"/>
          <p:cNvSpPr/>
          <p:nvPr/>
        </p:nvSpPr>
        <p:spPr>
          <a:xfrm>
            <a:off x="2514564" y="4797136"/>
            <a:ext cx="7220749" cy="1135279"/>
          </a:xfrm>
          <a:prstGeom prst="rect">
            <a:avLst/>
          </a:prstGeom>
          <a:noFill/>
          <a:ln/>
        </p:spPr>
        <p:txBody>
          <a:bodyPr wrap="square" lIns="25400" tIns="25400" rIns="25400" bIns="25400" rtlCol="0" anchor="t">
            <a:normAutofit/>
          </a:bodyPr>
          <a:lstStyle/>
          <a:p>
            <a:pPr algn="l" indent="0" marL="0">
              <a:lnSpc>
                <a:spcPct val="120000"/>
              </a:lnSpc>
              <a:buNone/>
            </a:pPr>
            <a:r>
              <a:rPr lang="en-US" sz="3600" spc="-54" kern="0" dirty="0">
                <a:solidFill>
                  <a:srgbClr val="002B36"/>
                </a:solidFill>
                <a:latin typeface="Arial" pitchFamily="34" charset="0"/>
                <a:ea typeface="Arial" pitchFamily="34" charset="-122"/>
                <a:cs typeface="Arial" pitchFamily="34" charset="-120"/>
              </a:rPr>
              <a:t>Privacy is the default — not a setting you have to find.</a:t>
            </a:r>
            <a:endParaRPr lang="en-US" sz="3600" dirty="0"/>
          </a:p>
        </p:txBody>
      </p:sp>
      <p:sp>
        <p:nvSpPr>
          <p:cNvPr id="7" name="Text 4"/>
          <p:cNvSpPr/>
          <p:nvPr/>
        </p:nvSpPr>
        <p:spPr>
          <a:xfrm>
            <a:off x="10134563" y="4929909"/>
            <a:ext cx="7220749" cy="838164"/>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86E75"/>
                </a:solidFill>
                <a:latin typeface="Arial" pitchFamily="34" charset="0"/>
                <a:ea typeface="Arial" pitchFamily="34" charset="-122"/>
                <a:cs typeface="Arial" pitchFamily="34" charset="-120"/>
              </a:rPr>
              <a:t>La confidentialité est l'état par défaut, pas un réglage à dénicher dans cinq sous-menus.</a:t>
            </a:r>
            <a:endParaRPr lang="en-US" sz="2250" dirty="0"/>
          </a:p>
        </p:txBody>
      </p:sp>
      <p:sp>
        <p:nvSpPr>
          <p:cNvPr id="8" name="Text 5"/>
          <p:cNvSpPr/>
          <p:nvPr/>
        </p:nvSpPr>
        <p:spPr>
          <a:xfrm>
            <a:off x="1143000" y="6427661"/>
            <a:ext cx="838200" cy="736600"/>
          </a:xfrm>
          <a:prstGeom prst="rect">
            <a:avLst/>
          </a:prstGeom>
          <a:noFill/>
          <a:ln/>
        </p:spPr>
        <p:txBody>
          <a:bodyPr wrap="square" lIns="25400" tIns="25400" rIns="25400" bIns="25400" rtlCol="0" anchor="t">
            <a:normAutofit/>
          </a:bodyPr>
          <a:lstStyle/>
          <a:p>
            <a:pPr algn="l" indent="0" marL="0">
              <a:buNone/>
            </a:pPr>
            <a:r>
              <a:rPr lang="en-US" sz="4800" spc="-96" kern="0" dirty="0">
                <a:solidFill>
                  <a:srgbClr val="CC9B21"/>
                </a:solidFill>
                <a:latin typeface="Arial" pitchFamily="34" charset="0"/>
                <a:ea typeface="Arial" pitchFamily="34" charset="-122"/>
                <a:cs typeface="Arial" pitchFamily="34" charset="-120"/>
              </a:rPr>
              <a:t>02</a:t>
            </a:r>
            <a:endParaRPr lang="en-US" sz="4800" dirty="0"/>
          </a:p>
        </p:txBody>
      </p:sp>
      <p:sp>
        <p:nvSpPr>
          <p:cNvPr id="9" name="Text 6"/>
          <p:cNvSpPr/>
          <p:nvPr/>
        </p:nvSpPr>
        <p:spPr>
          <a:xfrm>
            <a:off x="2514564" y="6554661"/>
            <a:ext cx="7220749" cy="1135279"/>
          </a:xfrm>
          <a:prstGeom prst="rect">
            <a:avLst/>
          </a:prstGeom>
          <a:noFill/>
          <a:ln/>
        </p:spPr>
        <p:txBody>
          <a:bodyPr wrap="square" lIns="25400" tIns="25400" rIns="25400" bIns="25400" rtlCol="0" anchor="t">
            <a:normAutofit/>
          </a:bodyPr>
          <a:lstStyle/>
          <a:p>
            <a:pPr algn="l" indent="0" marL="0">
              <a:lnSpc>
                <a:spcPct val="120000"/>
              </a:lnSpc>
              <a:buNone/>
            </a:pPr>
            <a:r>
              <a:rPr lang="en-US" sz="3600" spc="-54" kern="0" dirty="0">
                <a:solidFill>
                  <a:srgbClr val="002B36"/>
                </a:solidFill>
                <a:latin typeface="Arial" pitchFamily="34" charset="0"/>
                <a:ea typeface="Arial" pitchFamily="34" charset="-122"/>
                <a:cs typeface="Arial" pitchFamily="34" charset="-120"/>
              </a:rPr>
              <a:t>Open beats opaque — code you can read is code you can trust.</a:t>
            </a:r>
            <a:endParaRPr lang="en-US" sz="3600" dirty="0"/>
          </a:p>
        </p:txBody>
      </p:sp>
      <p:sp>
        <p:nvSpPr>
          <p:cNvPr id="10" name="Text 7"/>
          <p:cNvSpPr/>
          <p:nvPr/>
        </p:nvSpPr>
        <p:spPr>
          <a:xfrm>
            <a:off x="10134563" y="6687434"/>
            <a:ext cx="7220749" cy="838164"/>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86E75"/>
                </a:solidFill>
                <a:latin typeface="Arial" pitchFamily="34" charset="0"/>
                <a:ea typeface="Arial" pitchFamily="34" charset="-122"/>
                <a:cs typeface="Arial" pitchFamily="34" charset="-120"/>
              </a:rPr>
              <a:t>L'ouvert l'emporte sur l'opaque : un code qu'on peut lire est un code auquel on peut se fier.</a:t>
            </a:r>
            <a:endParaRPr lang="en-US" sz="2250" dirty="0"/>
          </a:p>
        </p:txBody>
      </p:sp>
      <p:sp>
        <p:nvSpPr>
          <p:cNvPr id="11" name="Text 8"/>
          <p:cNvSpPr/>
          <p:nvPr/>
        </p:nvSpPr>
        <p:spPr>
          <a:xfrm>
            <a:off x="1143000" y="8185185"/>
            <a:ext cx="838200" cy="736600"/>
          </a:xfrm>
          <a:prstGeom prst="rect">
            <a:avLst/>
          </a:prstGeom>
          <a:noFill/>
          <a:ln/>
        </p:spPr>
        <p:txBody>
          <a:bodyPr wrap="square" lIns="25400" tIns="25400" rIns="25400" bIns="25400" rtlCol="0" anchor="t">
            <a:normAutofit/>
          </a:bodyPr>
          <a:lstStyle/>
          <a:p>
            <a:pPr algn="l" indent="0" marL="0">
              <a:buNone/>
            </a:pPr>
            <a:r>
              <a:rPr lang="en-US" sz="4800" spc="-96" kern="0" dirty="0">
                <a:solidFill>
                  <a:srgbClr val="CC9B21"/>
                </a:solidFill>
                <a:latin typeface="Arial" pitchFamily="34" charset="0"/>
                <a:ea typeface="Arial" pitchFamily="34" charset="-122"/>
                <a:cs typeface="Arial" pitchFamily="34" charset="-120"/>
              </a:rPr>
              <a:t>03</a:t>
            </a:r>
            <a:endParaRPr lang="en-US" sz="4800" dirty="0"/>
          </a:p>
        </p:txBody>
      </p:sp>
      <p:sp>
        <p:nvSpPr>
          <p:cNvPr id="12" name="Text 9"/>
          <p:cNvSpPr/>
          <p:nvPr/>
        </p:nvSpPr>
        <p:spPr>
          <a:xfrm>
            <a:off x="2514564" y="8312186"/>
            <a:ext cx="7220749" cy="1135279"/>
          </a:xfrm>
          <a:prstGeom prst="rect">
            <a:avLst/>
          </a:prstGeom>
          <a:noFill/>
          <a:ln/>
        </p:spPr>
        <p:txBody>
          <a:bodyPr wrap="square" lIns="25400" tIns="25400" rIns="25400" bIns="25400" rtlCol="0" anchor="t">
            <a:normAutofit/>
          </a:bodyPr>
          <a:lstStyle/>
          <a:p>
            <a:pPr algn="l" indent="0" marL="0">
              <a:lnSpc>
                <a:spcPct val="120000"/>
              </a:lnSpc>
              <a:buNone/>
            </a:pPr>
            <a:r>
              <a:rPr lang="en-US" sz="3600" spc="-54" kern="0" dirty="0">
                <a:solidFill>
                  <a:srgbClr val="002B36"/>
                </a:solidFill>
                <a:latin typeface="Arial" pitchFamily="34" charset="0"/>
                <a:ea typeface="Arial" pitchFamily="34" charset="-122"/>
                <a:cs typeface="Arial" pitchFamily="34" charset="-120"/>
              </a:rPr>
              <a:t>Dignity over urgency — we will not perform alarm to make you click.</a:t>
            </a:r>
            <a:endParaRPr lang="en-US" sz="3600" dirty="0"/>
          </a:p>
        </p:txBody>
      </p:sp>
      <p:sp>
        <p:nvSpPr>
          <p:cNvPr id="13" name="Text 10"/>
          <p:cNvSpPr/>
          <p:nvPr/>
        </p:nvSpPr>
        <p:spPr>
          <a:xfrm>
            <a:off x="10134563" y="8444958"/>
            <a:ext cx="7220749" cy="838164"/>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86E75"/>
                </a:solidFill>
                <a:latin typeface="Arial" pitchFamily="34" charset="0"/>
                <a:ea typeface="Arial" pitchFamily="34" charset="-122"/>
                <a:cs typeface="Arial" pitchFamily="34" charset="-120"/>
              </a:rPr>
              <a:t>La dignité avant l'urgence : nous ne mettrons pas en scène la panique pour provoquer un clic.</a:t>
            </a:r>
            <a:endParaRPr lang="en-US" sz="2250" dirty="0"/>
          </a:p>
        </p:txBody>
      </p:sp>
      <p:sp>
        <p:nvSpPr>
          <p:cNvPr id="14" name="Text 11"/>
          <p:cNvSpPr/>
          <p:nvPr/>
        </p:nvSpPr>
        <p:spPr>
          <a:xfrm>
            <a:off x="1143000" y="9942711"/>
            <a:ext cx="4653324"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Three rules. No footnotes.</a:t>
            </a:r>
            <a:endParaRPr lang="en-US" sz="1800" dirty="0"/>
          </a:p>
        </p:txBody>
      </p:sp>
      <p:sp>
        <p:nvSpPr>
          <p:cNvPr id="15" name="Text 12"/>
          <p:cNvSpPr/>
          <p:nvPr/>
        </p:nvSpPr>
        <p:spPr>
          <a:xfrm>
            <a:off x="15928667" y="9942711"/>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03 / 10</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B36"/>
        </a:solidFill>
      </p:bgPr>
    </p:bg>
    <p:spTree>
      <p:nvGrpSpPr>
        <p:cNvPr id="1" name=""/>
        <p:cNvGrpSpPr/>
        <p:nvPr/>
      </p:nvGrpSpPr>
      <p:grpSpPr>
        <a:xfrm>
          <a:off x="0" y="0"/>
          <a:ext cx="0" cy="0"/>
          <a:chOff x="0" y="0"/>
          <a:chExt cx="0" cy="0"/>
        </a:xfrm>
      </p:grpSpPr>
      <p:sp>
        <p:nvSpPr>
          <p:cNvPr id="2" name="Text 0"/>
          <p:cNvSpPr/>
          <p:nvPr/>
        </p:nvSpPr>
        <p:spPr>
          <a:xfrm>
            <a:off x="1143000" y="1032146"/>
            <a:ext cx="23351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04 — THE LINE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1904910"/>
            <a:ext cx="16482059" cy="1830351"/>
          </a:xfrm>
          <a:prstGeom prst="rect">
            <a:avLst/>
          </a:prstGeom>
          <a:noFill/>
          <a:ln/>
        </p:spPr>
        <p:txBody>
          <a:bodyPr wrap="square" lIns="25400" tIns="25400" rIns="25400" bIns="25400" rtlCol="0" anchor="t">
            <a:normAutofit/>
          </a:bodyPr>
          <a:lstStyle/>
          <a:p>
            <a:pPr algn="l" indent="0" marL="0">
              <a:lnSpc>
                <a:spcPct val="96000"/>
              </a:lnSpc>
              <a:buNone/>
            </a:pPr>
            <a:r>
              <a:rPr lang="en-US" sz="14700" spc="-661" kern="0" dirty="0">
                <a:solidFill>
                  <a:srgbClr val="FDF6E3"/>
                </a:solidFill>
                <a:latin typeface="Arial" pitchFamily="34" charset="0"/>
                <a:ea typeface="Arial" pitchFamily="34" charset="-122"/>
                <a:cs typeface="Arial" pitchFamily="34" charset="-120"/>
              </a:rPr>
              <a:t>Privacy first.</a:t>
            </a:r>
            <a:endParaRPr lang="en-US" sz="14700" dirty="0"/>
          </a:p>
        </p:txBody>
      </p:sp>
      <p:sp>
        <p:nvSpPr>
          <p:cNvPr id="5" name="Text 2"/>
          <p:cNvSpPr/>
          <p:nvPr/>
        </p:nvSpPr>
        <p:spPr>
          <a:xfrm>
            <a:off x="1143000" y="3963789"/>
            <a:ext cx="16482059" cy="1830351"/>
          </a:xfrm>
          <a:prstGeom prst="rect">
            <a:avLst/>
          </a:prstGeom>
          <a:noFill/>
          <a:ln/>
        </p:spPr>
        <p:txBody>
          <a:bodyPr wrap="square" lIns="25400" tIns="25400" rIns="25400" bIns="25400" rtlCol="0" anchor="t">
            <a:normAutofit/>
          </a:bodyPr>
          <a:lstStyle/>
          <a:p>
            <a:pPr algn="l" indent="0" marL="0">
              <a:lnSpc>
                <a:spcPct val="96000"/>
              </a:lnSpc>
              <a:buNone/>
            </a:pPr>
            <a:r>
              <a:rPr lang="en-US" sz="14700" spc="-661" kern="0" dirty="0">
                <a:solidFill>
                  <a:srgbClr val="CC9B21"/>
                </a:solidFill>
                <a:latin typeface="Arial" pitchFamily="34" charset="0"/>
                <a:ea typeface="Arial" pitchFamily="34" charset="-122"/>
                <a:cs typeface="Arial" pitchFamily="34" charset="-120"/>
              </a:rPr>
              <a:t>Security in service.</a:t>
            </a:r>
            <a:endParaRPr lang="en-US" sz="14700" dirty="0"/>
          </a:p>
        </p:txBody>
      </p:sp>
      <p:sp>
        <p:nvSpPr>
          <p:cNvPr id="6" name="Text 3"/>
          <p:cNvSpPr/>
          <p:nvPr/>
        </p:nvSpPr>
        <p:spPr>
          <a:xfrm>
            <a:off x="1143000" y="6365604"/>
            <a:ext cx="16482059" cy="651542"/>
          </a:xfrm>
          <a:prstGeom prst="rect">
            <a:avLst/>
          </a:prstGeom>
          <a:noFill/>
          <a:ln/>
        </p:spPr>
        <p:txBody>
          <a:bodyPr wrap="square" lIns="25400" tIns="25400" rIns="25400" bIns="25400" rtlCol="0" anchor="t">
            <a:normAutofit/>
          </a:bodyPr>
          <a:lstStyle/>
          <a:p>
            <a:pPr algn="l" indent="0" marL="0">
              <a:lnSpc>
                <a:spcPct val="115000"/>
              </a:lnSpc>
              <a:buNone/>
            </a:pPr>
            <a:r>
              <a:rPr lang="en-US" sz="4200" spc="-42" kern="0" dirty="0">
                <a:solidFill>
                  <a:srgbClr val="FDF6E3">
                    <a:alpha val="62000"/>
                  </a:srgbClr>
                </a:solidFill>
                <a:latin typeface="Arial" pitchFamily="34" charset="0"/>
                <a:ea typeface="Arial" pitchFamily="34" charset="-122"/>
                <a:cs typeface="Arial" pitchFamily="34" charset="-120"/>
              </a:rPr>
              <a:t>La confidentialité d'abord. La sécurité au service.</a:t>
            </a:r>
            <a:endParaRPr lang="en-US" sz="4200" dirty="0"/>
          </a:p>
        </p:txBody>
      </p:sp>
      <p:sp>
        <p:nvSpPr>
          <p:cNvPr id="7" name="Text 4"/>
          <p:cNvSpPr/>
          <p:nvPr/>
        </p:nvSpPr>
        <p:spPr>
          <a:xfrm>
            <a:off x="1143000" y="9074727"/>
            <a:ext cx="5727118"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VaultWares — manifesto, line one</a:t>
            </a:r>
            <a:endParaRPr lang="en-US" sz="1800" dirty="0"/>
          </a:p>
        </p:txBody>
      </p:sp>
      <p:sp>
        <p:nvSpPr>
          <p:cNvPr id="8" name="Text 5"/>
          <p:cNvSpPr/>
          <p:nvPr/>
        </p:nvSpPr>
        <p:spPr>
          <a:xfrm>
            <a:off x="15928667" y="9074727"/>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04 / 10</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3937399"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05 — TECHNOLOGY STANCE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1904910"/>
            <a:ext cx="8158623" cy="1840183"/>
          </a:xfrm>
          <a:prstGeom prst="rect">
            <a:avLst/>
          </a:prstGeom>
          <a:noFill/>
          <a:ln/>
        </p:spPr>
        <p:txBody>
          <a:bodyPr wrap="square" lIns="25400" tIns="25400" rIns="25400" bIns="25400" rtlCol="0" anchor="t">
            <a:normAutofit/>
          </a:bodyPr>
          <a:lstStyle/>
          <a:p>
            <a:pPr algn="l" indent="0" marL="0">
              <a:lnSpc>
                <a:spcPct val="86000"/>
              </a:lnSpc>
              <a:buNone/>
            </a:pPr>
            <a:r>
              <a:rPr lang="en-US" sz="16500" spc="-825" kern="0" dirty="0">
                <a:solidFill>
                  <a:srgbClr val="CC9B21"/>
                </a:solidFill>
                <a:latin typeface="Arial" pitchFamily="34" charset="0"/>
                <a:ea typeface="Arial" pitchFamily="34" charset="-122"/>
                <a:cs typeface="Arial" pitchFamily="34" charset="-120"/>
              </a:rPr>
              <a:t>100 </a:t>
            </a:r>
            <a:pPr algn="l" indent="0" marL="0">
              <a:lnSpc>
                <a:spcPct val="86000"/>
              </a:lnSpc>
              <a:buNone/>
            </a:pPr>
            <a:r>
              <a:rPr lang="en-US" sz="7800" spc="-825" kern="0" dirty="0">
                <a:solidFill>
                  <a:srgbClr val="CC9B21"/>
                </a:solidFill>
                <a:latin typeface="Arial" pitchFamily="34" charset="0"/>
                <a:ea typeface="Arial" pitchFamily="34" charset="-122"/>
                <a:cs typeface="Arial" pitchFamily="34" charset="-120"/>
              </a:rPr>
              <a:t>%</a:t>
            </a:r>
            <a:endParaRPr lang="en-US" sz="16500" dirty="0"/>
          </a:p>
        </p:txBody>
      </p:sp>
      <p:sp>
        <p:nvSpPr>
          <p:cNvPr id="5" name="Text 2"/>
          <p:cNvSpPr/>
          <p:nvPr/>
        </p:nvSpPr>
        <p:spPr>
          <a:xfrm>
            <a:off x="1143000" y="3935557"/>
            <a:ext cx="7652384" cy="1232874"/>
          </a:xfrm>
          <a:prstGeom prst="rect">
            <a:avLst/>
          </a:prstGeom>
          <a:noFill/>
          <a:ln/>
        </p:spPr>
        <p:txBody>
          <a:bodyPr wrap="square" lIns="25400" tIns="25400" rIns="25400" bIns="25400" rtlCol="0" anchor="t">
            <a:normAutofit/>
          </a:bodyPr>
          <a:lstStyle/>
          <a:p>
            <a:pPr algn="l" indent="0" marL="0">
              <a:lnSpc>
                <a:spcPct val="112000"/>
              </a:lnSpc>
              <a:buNone/>
            </a:pPr>
            <a:r>
              <a:rPr lang="en-US" sz="4200" spc="-63" kern="0" dirty="0">
                <a:solidFill>
                  <a:srgbClr val="002B36"/>
                </a:solidFill>
                <a:latin typeface="Arial" pitchFamily="34" charset="0"/>
                <a:ea typeface="Arial" pitchFamily="34" charset="-122"/>
                <a:cs typeface="Arial" pitchFamily="34" charset="-120"/>
              </a:rPr>
              <a:t>Built on free, open-source software and hardware.</a:t>
            </a:r>
            <a:endParaRPr lang="en-US" sz="4200" dirty="0"/>
          </a:p>
        </p:txBody>
      </p:sp>
      <p:sp>
        <p:nvSpPr>
          <p:cNvPr id="6" name="Text 3"/>
          <p:cNvSpPr/>
          <p:nvPr/>
        </p:nvSpPr>
        <p:spPr>
          <a:xfrm>
            <a:off x="1143000" y="5801591"/>
            <a:ext cx="7652384" cy="1446555"/>
          </a:xfrm>
          <a:prstGeom prst="rect">
            <a:avLst/>
          </a:prstGeom>
          <a:noFill/>
          <a:ln/>
        </p:spPr>
        <p:txBody>
          <a:bodyPr wrap="square" lIns="25400" tIns="25400" rIns="25400" bIns="25400" rtlCol="0" anchor="t">
            <a:normAutofit/>
          </a:bodyPr>
          <a:lstStyle/>
          <a:p>
            <a:pPr algn="l" indent="0" marL="0">
              <a:lnSpc>
                <a:spcPct val="145000"/>
              </a:lnSpc>
              <a:buNone/>
            </a:pPr>
            <a:r>
              <a:rPr lang="en-US" sz="2550" spc="-13" kern="0" dirty="0">
                <a:solidFill>
                  <a:srgbClr val="586E75"/>
                </a:solidFill>
                <a:latin typeface="Arial" pitchFamily="34" charset="0"/>
                <a:ea typeface="Arial" pitchFamily="34" charset="-122"/>
                <a:cs typeface="Arial" pitchFamily="34" charset="-120"/>
              </a:rPr>
              <a:t>Construit à 100 % sur des logiciels et du matériel libres : tout est auditable, par n'importe qui, à tout moment.</a:t>
            </a:r>
            <a:endParaRPr lang="en-US" sz="2550" dirty="0"/>
          </a:p>
        </p:txBody>
      </p:sp>
      <p:sp>
        <p:nvSpPr>
          <p:cNvPr id="7" name="Text 4"/>
          <p:cNvSpPr/>
          <p:nvPr/>
        </p:nvSpPr>
        <p:spPr>
          <a:xfrm>
            <a:off x="1143000" y="7539632"/>
            <a:ext cx="719318" cy="292100"/>
          </a:xfrm>
          <a:prstGeom prst="rect">
            <a:avLst/>
          </a:prstGeom>
          <a:noFill/>
          <a:ln/>
        </p:spPr>
        <p:txBody>
          <a:bodyPr wrap="square" lIns="25400" tIns="25400" rIns="25400" bIns="25400" rtlCol="0" anchor="t">
            <a:normAutofit/>
          </a:bodyPr>
          <a:lstStyle/>
          <a:p>
            <a:pPr algn="l" indent="0" marL="0">
              <a:lnSpc>
                <a:spcPct val="120000"/>
              </a:lnSpc>
              <a:buNone/>
            </a:pPr>
            <a:r>
              <a:rPr lang="en-US" sz="1800" spc="288" kern="0" dirty="0">
                <a:solidFill>
                  <a:srgbClr val="586E75"/>
                </a:solidFill>
                <a:latin typeface="Arial" pitchFamily="34" charset="0"/>
                <a:ea typeface="Arial" pitchFamily="34" charset="-122"/>
                <a:cs typeface="Arial" pitchFamily="34" charset="-120"/>
              </a:rPr>
              <a:t>WHY</a:t>
            </a:r>
            <a:endParaRPr lang="en-US" sz="1800" dirty="0"/>
          </a:p>
        </p:txBody>
      </p:sp>
      <p:sp>
        <p:nvSpPr>
          <p:cNvPr id="8" name="Text 5"/>
          <p:cNvSpPr/>
          <p:nvPr/>
        </p:nvSpPr>
        <p:spPr>
          <a:xfrm>
            <a:off x="1143000" y="7960410"/>
            <a:ext cx="7652384" cy="1085670"/>
          </a:xfrm>
          <a:prstGeom prst="rect">
            <a:avLst/>
          </a:prstGeom>
          <a:noFill/>
          <a:ln/>
        </p:spPr>
        <p:txBody>
          <a:bodyPr wrap="square" lIns="25400" tIns="25400" rIns="25400" bIns="25400" rtlCol="0" anchor="t">
            <a:normAutofit/>
          </a:bodyPr>
          <a:lstStyle/>
          <a:p>
            <a:pPr algn="l" indent="0" marL="0">
              <a:lnSpc>
                <a:spcPct val="125000"/>
              </a:lnSpc>
              <a:buNone/>
            </a:pPr>
            <a:r>
              <a:rPr lang="en-US" sz="3300" spc="-33" kern="0" dirty="0">
                <a:solidFill>
                  <a:srgbClr val="002B36"/>
                </a:solidFill>
                <a:latin typeface="Arial" pitchFamily="34" charset="0"/>
                <a:ea typeface="Arial" pitchFamily="34" charset="-122"/>
                <a:cs typeface="Arial" pitchFamily="34" charset="-120"/>
              </a:rPr>
              <a:t>If we had something to hide in the code, we'd have something to hide from you.</a:t>
            </a:r>
            <a:endParaRPr lang="en-US" sz="3300" dirty="0"/>
          </a:p>
        </p:txBody>
      </p:sp>
      <p:sp>
        <p:nvSpPr>
          <p:cNvPr id="9" name="Shape 6"/>
          <p:cNvSpPr/>
          <p:nvPr/>
        </p:nvSpPr>
        <p:spPr>
          <a:xfrm>
            <a:off x="9978339" y="4354260"/>
            <a:ext cx="7166660" cy="9525"/>
          </a:xfrm>
          <a:prstGeom prst="rect">
            <a:avLst/>
          </a:prstGeom>
          <a:solidFill>
            <a:srgbClr val="002B36">
              <a:alpha val="14000"/>
            </a:srgbClr>
          </a:solidFill>
          <a:ln/>
        </p:spPr>
      </p:sp>
      <p:sp>
        <p:nvSpPr>
          <p:cNvPr id="10" name="Text 7"/>
          <p:cNvSpPr/>
          <p:nvPr/>
        </p:nvSpPr>
        <p:spPr>
          <a:xfrm>
            <a:off x="9978339" y="3206750"/>
            <a:ext cx="914328" cy="338282"/>
          </a:xfrm>
          <a:prstGeom prst="rect">
            <a:avLst/>
          </a:prstGeom>
          <a:noFill/>
          <a:ln/>
        </p:spPr>
        <p:txBody>
          <a:bodyPr wrap="square" lIns="25400" tIns="25400" rIns="25400" bIns="25400" rtlCol="0" anchor="t">
            <a:normAutofit/>
          </a:bodyPr>
          <a:lstStyle/>
          <a:p>
            <a:pPr algn="l" indent="0" marL="0">
              <a:buNone/>
            </a:pPr>
            <a:r>
              <a:rPr lang="en-US" sz="1800" dirty="0">
                <a:solidFill>
                  <a:srgbClr val="586E75"/>
                </a:solidFill>
                <a:latin typeface="Courier New" pitchFamily="34" charset="0"/>
                <a:ea typeface="Courier New" pitchFamily="34" charset="-122"/>
                <a:cs typeface="Courier New" pitchFamily="34" charset="-120"/>
              </a:rPr>
              <a:t>FW</a:t>
            </a:r>
            <a:endParaRPr lang="en-US" sz="1800" dirty="0"/>
          </a:p>
        </p:txBody>
      </p:sp>
      <p:sp>
        <p:nvSpPr>
          <p:cNvPr id="11" name="Text 8"/>
          <p:cNvSpPr/>
          <p:nvPr/>
        </p:nvSpPr>
        <p:spPr>
          <a:xfrm>
            <a:off x="11045030" y="3212523"/>
            <a:ext cx="5751273" cy="642072"/>
          </a:xfrm>
          <a:prstGeom prst="rect">
            <a:avLst/>
          </a:prstGeom>
          <a:noFill/>
          <a:ln/>
        </p:spPr>
        <p:txBody>
          <a:bodyPr wrap="square" lIns="0" tIns="0" rIns="0" bIns="0" rtlCol="0" anchor="t">
            <a:normAutofit/>
          </a:bodyPr>
          <a:lstStyle/>
          <a:p>
            <a:pPr algn="l" indent="0" marL="0">
              <a:lnSpc>
                <a:spcPct val="132000"/>
              </a:lnSpc>
              <a:buNone/>
            </a:pPr>
            <a:r>
              <a:rPr lang="en-US" sz="1950" dirty="0">
                <a:solidFill>
                  <a:srgbClr val="002B36"/>
                </a:solidFill>
                <a:latin typeface="Arial" pitchFamily="34" charset="0"/>
                <a:ea typeface="Arial" pitchFamily="34" charset="-122"/>
                <a:cs typeface="Arial" pitchFamily="34" charset="-120"/>
              </a:rPr>
              <a:t>Every byte of firmware on a VaultDrive is published before it ships.</a:t>
            </a:r>
            <a:endParaRPr lang="en-US" sz="1950" dirty="0"/>
          </a:p>
        </p:txBody>
      </p:sp>
      <p:sp>
        <p:nvSpPr>
          <p:cNvPr id="12" name="Text 9"/>
          <p:cNvSpPr/>
          <p:nvPr/>
        </p:nvSpPr>
        <p:spPr>
          <a:xfrm>
            <a:off x="11045030" y="3881257"/>
            <a:ext cx="6282967" cy="339725"/>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6E75"/>
                </a:solidFill>
                <a:latin typeface="Arial" pitchFamily="34" charset="0"/>
                <a:ea typeface="Arial" pitchFamily="34" charset="-122"/>
                <a:cs typeface="Arial" pitchFamily="34" charset="-120"/>
              </a:rPr>
              <a:t>Tout micrologiciel publié avant expédition.</a:t>
            </a:r>
            <a:endParaRPr lang="en-US" sz="1800" dirty="0"/>
          </a:p>
        </p:txBody>
      </p:sp>
      <p:sp>
        <p:nvSpPr>
          <p:cNvPr id="13" name="Shape 10"/>
          <p:cNvSpPr/>
          <p:nvPr/>
        </p:nvSpPr>
        <p:spPr>
          <a:xfrm>
            <a:off x="9978339" y="5674140"/>
            <a:ext cx="7166660" cy="9525"/>
          </a:xfrm>
          <a:prstGeom prst="rect">
            <a:avLst/>
          </a:prstGeom>
          <a:solidFill>
            <a:srgbClr val="002B36">
              <a:alpha val="14000"/>
            </a:srgbClr>
          </a:solidFill>
          <a:ln/>
        </p:spPr>
      </p:sp>
      <p:sp>
        <p:nvSpPr>
          <p:cNvPr id="14" name="Text 11"/>
          <p:cNvSpPr/>
          <p:nvPr/>
        </p:nvSpPr>
        <p:spPr>
          <a:xfrm>
            <a:off x="9978339" y="4853510"/>
            <a:ext cx="914328" cy="338282"/>
          </a:xfrm>
          <a:prstGeom prst="rect">
            <a:avLst/>
          </a:prstGeom>
          <a:noFill/>
          <a:ln/>
        </p:spPr>
        <p:txBody>
          <a:bodyPr wrap="square" lIns="25400" tIns="25400" rIns="25400" bIns="25400" rtlCol="0" anchor="t">
            <a:normAutofit/>
          </a:bodyPr>
          <a:lstStyle/>
          <a:p>
            <a:pPr algn="l" indent="0" marL="0">
              <a:buNone/>
            </a:pPr>
            <a:r>
              <a:rPr lang="en-US" sz="1800" dirty="0">
                <a:solidFill>
                  <a:srgbClr val="586E75"/>
                </a:solidFill>
                <a:latin typeface="Courier New" pitchFamily="34" charset="0"/>
                <a:ea typeface="Courier New" pitchFamily="34" charset="-122"/>
                <a:cs typeface="Courier New" pitchFamily="34" charset="-120"/>
              </a:rPr>
              <a:t>PROTO</a:t>
            </a:r>
            <a:endParaRPr lang="en-US" sz="1800" dirty="0"/>
          </a:p>
        </p:txBody>
      </p:sp>
      <p:sp>
        <p:nvSpPr>
          <p:cNvPr id="15" name="Text 12"/>
          <p:cNvSpPr/>
          <p:nvPr/>
        </p:nvSpPr>
        <p:spPr>
          <a:xfrm>
            <a:off x="11045030" y="4859283"/>
            <a:ext cx="5685125" cy="315191"/>
          </a:xfrm>
          <a:prstGeom prst="rect">
            <a:avLst/>
          </a:prstGeom>
          <a:noFill/>
          <a:ln/>
        </p:spPr>
        <p:txBody>
          <a:bodyPr wrap="square" lIns="0" tIns="0" rIns="0" bIns="0" rtlCol="0" anchor="t">
            <a:normAutofit/>
          </a:bodyPr>
          <a:lstStyle/>
          <a:p>
            <a:pPr algn="l" indent="0" marL="0">
              <a:lnSpc>
                <a:spcPct val="132000"/>
              </a:lnSpc>
              <a:buNone/>
            </a:pPr>
            <a:r>
              <a:rPr lang="en-US" sz="1950" dirty="0">
                <a:solidFill>
                  <a:srgbClr val="002B36"/>
                </a:solidFill>
                <a:latin typeface="Arial" pitchFamily="34" charset="0"/>
                <a:ea typeface="Arial" pitchFamily="34" charset="-122"/>
                <a:cs typeface="Arial" pitchFamily="34" charset="-120"/>
              </a:rPr>
              <a:t>Protocols are RFC-tracked and reviewed in public.</a:t>
            </a:r>
            <a:endParaRPr lang="en-US" sz="1950" dirty="0"/>
          </a:p>
        </p:txBody>
      </p:sp>
      <p:sp>
        <p:nvSpPr>
          <p:cNvPr id="16" name="Text 13"/>
          <p:cNvSpPr/>
          <p:nvPr/>
        </p:nvSpPr>
        <p:spPr>
          <a:xfrm>
            <a:off x="11045030" y="5201137"/>
            <a:ext cx="6282967" cy="339725"/>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6E75"/>
                </a:solidFill>
                <a:latin typeface="Arial" pitchFamily="34" charset="0"/>
                <a:ea typeface="Arial" pitchFamily="34" charset="-122"/>
                <a:cs typeface="Arial" pitchFamily="34" charset="-120"/>
              </a:rPr>
              <a:t>Protocoles suivis par RFC, revus publiquement.</a:t>
            </a:r>
            <a:endParaRPr lang="en-US" sz="1800" dirty="0"/>
          </a:p>
        </p:txBody>
      </p:sp>
      <p:sp>
        <p:nvSpPr>
          <p:cNvPr id="17" name="Shape 14"/>
          <p:cNvSpPr/>
          <p:nvPr/>
        </p:nvSpPr>
        <p:spPr>
          <a:xfrm>
            <a:off x="9978339" y="6994019"/>
            <a:ext cx="7166660" cy="9525"/>
          </a:xfrm>
          <a:prstGeom prst="rect">
            <a:avLst/>
          </a:prstGeom>
          <a:solidFill>
            <a:srgbClr val="002B36">
              <a:alpha val="14000"/>
            </a:srgbClr>
          </a:solidFill>
          <a:ln/>
        </p:spPr>
      </p:sp>
      <p:sp>
        <p:nvSpPr>
          <p:cNvPr id="18" name="Text 15"/>
          <p:cNvSpPr/>
          <p:nvPr/>
        </p:nvSpPr>
        <p:spPr>
          <a:xfrm>
            <a:off x="9978339" y="6173390"/>
            <a:ext cx="914328" cy="338282"/>
          </a:xfrm>
          <a:prstGeom prst="rect">
            <a:avLst/>
          </a:prstGeom>
          <a:noFill/>
          <a:ln/>
        </p:spPr>
        <p:txBody>
          <a:bodyPr wrap="square" lIns="25400" tIns="25400" rIns="25400" bIns="25400" rtlCol="0" anchor="t">
            <a:normAutofit/>
          </a:bodyPr>
          <a:lstStyle/>
          <a:p>
            <a:pPr algn="l" indent="0" marL="0">
              <a:buNone/>
            </a:pPr>
            <a:r>
              <a:rPr lang="en-US" sz="1800" dirty="0">
                <a:solidFill>
                  <a:srgbClr val="586E75"/>
                </a:solidFill>
                <a:latin typeface="Courier New" pitchFamily="34" charset="0"/>
                <a:ea typeface="Courier New" pitchFamily="34" charset="-122"/>
                <a:cs typeface="Courier New" pitchFamily="34" charset="-120"/>
              </a:rPr>
              <a:t>HW</a:t>
            </a:r>
            <a:endParaRPr lang="en-US" sz="1800" dirty="0"/>
          </a:p>
        </p:txBody>
      </p:sp>
      <p:sp>
        <p:nvSpPr>
          <p:cNvPr id="19" name="Text 16"/>
          <p:cNvSpPr/>
          <p:nvPr/>
        </p:nvSpPr>
        <p:spPr>
          <a:xfrm>
            <a:off x="11045030" y="6179163"/>
            <a:ext cx="5983163" cy="315191"/>
          </a:xfrm>
          <a:prstGeom prst="rect">
            <a:avLst/>
          </a:prstGeom>
          <a:noFill/>
          <a:ln/>
        </p:spPr>
        <p:txBody>
          <a:bodyPr wrap="square" lIns="0" tIns="0" rIns="0" bIns="0" rtlCol="0" anchor="t">
            <a:normAutofit/>
          </a:bodyPr>
          <a:lstStyle/>
          <a:p>
            <a:pPr algn="l" indent="0" marL="0">
              <a:lnSpc>
                <a:spcPct val="132000"/>
              </a:lnSpc>
              <a:buNone/>
            </a:pPr>
            <a:r>
              <a:rPr lang="en-US" sz="1950" dirty="0">
                <a:solidFill>
                  <a:srgbClr val="002B36"/>
                </a:solidFill>
                <a:latin typeface="Arial" pitchFamily="34" charset="0"/>
                <a:ea typeface="Arial" pitchFamily="34" charset="-122"/>
                <a:cs typeface="Arial" pitchFamily="34" charset="-120"/>
              </a:rPr>
              <a:t>Hardware schematics, BOM, and toolchain are open.</a:t>
            </a:r>
            <a:endParaRPr lang="en-US" sz="1950" dirty="0"/>
          </a:p>
        </p:txBody>
      </p:sp>
      <p:sp>
        <p:nvSpPr>
          <p:cNvPr id="20" name="Text 17"/>
          <p:cNvSpPr/>
          <p:nvPr/>
        </p:nvSpPr>
        <p:spPr>
          <a:xfrm>
            <a:off x="11045030" y="6521016"/>
            <a:ext cx="6282967" cy="339725"/>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6E75"/>
                </a:solidFill>
                <a:latin typeface="Arial" pitchFamily="34" charset="0"/>
                <a:ea typeface="Arial" pitchFamily="34" charset="-122"/>
                <a:cs typeface="Arial" pitchFamily="34" charset="-120"/>
              </a:rPr>
              <a:t>Schémas matériels, nomenclature et outils ouverts.</a:t>
            </a:r>
            <a:endParaRPr lang="en-US" sz="1800" dirty="0"/>
          </a:p>
        </p:txBody>
      </p:sp>
      <p:sp>
        <p:nvSpPr>
          <p:cNvPr id="21" name="Text 18"/>
          <p:cNvSpPr/>
          <p:nvPr/>
        </p:nvSpPr>
        <p:spPr>
          <a:xfrm>
            <a:off x="9978339" y="7493270"/>
            <a:ext cx="914328" cy="338282"/>
          </a:xfrm>
          <a:prstGeom prst="rect">
            <a:avLst/>
          </a:prstGeom>
          <a:noFill/>
          <a:ln/>
        </p:spPr>
        <p:txBody>
          <a:bodyPr wrap="square" lIns="25400" tIns="25400" rIns="25400" bIns="25400" rtlCol="0" anchor="t">
            <a:normAutofit/>
          </a:bodyPr>
          <a:lstStyle/>
          <a:p>
            <a:pPr algn="l" indent="0" marL="0">
              <a:buNone/>
            </a:pPr>
            <a:r>
              <a:rPr lang="en-US" sz="1800" dirty="0">
                <a:solidFill>
                  <a:srgbClr val="586E75"/>
                </a:solidFill>
                <a:latin typeface="Courier New" pitchFamily="34" charset="0"/>
                <a:ea typeface="Courier New" pitchFamily="34" charset="-122"/>
                <a:cs typeface="Courier New" pitchFamily="34" charset="-120"/>
              </a:rPr>
              <a:t>AUDIT</a:t>
            </a:r>
            <a:endParaRPr lang="en-US" sz="1800" dirty="0"/>
          </a:p>
        </p:txBody>
      </p:sp>
      <p:sp>
        <p:nvSpPr>
          <p:cNvPr id="22" name="Text 19"/>
          <p:cNvSpPr/>
          <p:nvPr/>
        </p:nvSpPr>
        <p:spPr>
          <a:xfrm>
            <a:off x="11045030" y="7499043"/>
            <a:ext cx="6097251" cy="315191"/>
          </a:xfrm>
          <a:prstGeom prst="rect">
            <a:avLst/>
          </a:prstGeom>
          <a:noFill/>
          <a:ln/>
        </p:spPr>
        <p:txBody>
          <a:bodyPr wrap="square" lIns="0" tIns="0" rIns="0" bIns="0" rtlCol="0" anchor="t">
            <a:normAutofit/>
          </a:bodyPr>
          <a:lstStyle/>
          <a:p>
            <a:pPr algn="l" indent="0" marL="0">
              <a:lnSpc>
                <a:spcPct val="132000"/>
              </a:lnSpc>
              <a:buNone/>
            </a:pPr>
            <a:r>
              <a:rPr lang="en-US" sz="1950" dirty="0">
                <a:solidFill>
                  <a:srgbClr val="002B36"/>
                </a:solidFill>
                <a:latin typeface="Arial" pitchFamily="34" charset="0"/>
                <a:ea typeface="Arial" pitchFamily="34" charset="-122"/>
                <a:cs typeface="Arial" pitchFamily="34" charset="-120"/>
              </a:rPr>
              <a:t>Third-party audits published, including the failed ones.</a:t>
            </a:r>
            <a:endParaRPr lang="en-US" sz="1950" dirty="0"/>
          </a:p>
        </p:txBody>
      </p:sp>
      <p:sp>
        <p:nvSpPr>
          <p:cNvPr id="23" name="Text 20"/>
          <p:cNvSpPr/>
          <p:nvPr/>
        </p:nvSpPr>
        <p:spPr>
          <a:xfrm>
            <a:off x="11045030" y="7840896"/>
            <a:ext cx="6282967" cy="339725"/>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6E75"/>
                </a:solidFill>
                <a:latin typeface="Arial" pitchFamily="34" charset="0"/>
                <a:ea typeface="Arial" pitchFamily="34" charset="-122"/>
                <a:cs typeface="Arial" pitchFamily="34" charset="-120"/>
              </a:rPr>
              <a:t>Audits tiers publiés, y compris ceux qui échouent.</a:t>
            </a:r>
            <a:endParaRPr lang="en-US" sz="1800" dirty="0"/>
          </a:p>
        </p:txBody>
      </p:sp>
      <p:sp>
        <p:nvSpPr>
          <p:cNvPr id="24" name="Text 21"/>
          <p:cNvSpPr/>
          <p:nvPr/>
        </p:nvSpPr>
        <p:spPr>
          <a:xfrm>
            <a:off x="1143000" y="9960390"/>
            <a:ext cx="69799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vault-themes · vaultwares-docs · public</a:t>
            </a:r>
            <a:endParaRPr lang="en-US" sz="1800" dirty="0"/>
          </a:p>
        </p:txBody>
      </p:sp>
      <p:sp>
        <p:nvSpPr>
          <p:cNvPr id="25" name="Text 22"/>
          <p:cNvSpPr/>
          <p:nvPr/>
        </p:nvSpPr>
        <p:spPr>
          <a:xfrm>
            <a:off x="15928667" y="9960390"/>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05 / 10</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23351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06 — HARDWARE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364383"/>
            <a:ext cx="16482059" cy="758158"/>
          </a:xfrm>
          <a:prstGeom prst="rect">
            <a:avLst/>
          </a:prstGeom>
          <a:noFill/>
          <a:ln/>
        </p:spPr>
        <p:txBody>
          <a:bodyPr wrap="square" lIns="25400" tIns="25400" rIns="25400" bIns="25400" rtlCol="0" anchor="t">
            <a:normAutofit/>
          </a:bodyPr>
          <a:lstStyle/>
          <a:p>
            <a:pPr algn="l" indent="0" marL="0">
              <a:lnSpc>
                <a:spcPct val="105000"/>
              </a:lnSpc>
              <a:buNone/>
            </a:pPr>
            <a:r>
              <a:rPr lang="en-US" sz="5400" spc="-135" kern="0" dirty="0">
                <a:solidFill>
                  <a:srgbClr val="002B36"/>
                </a:solidFill>
                <a:latin typeface="Arial" pitchFamily="34" charset="0"/>
                <a:ea typeface="Arial" pitchFamily="34" charset="-122"/>
                <a:cs typeface="Arial" pitchFamily="34" charset="-120"/>
              </a:rPr>
              <a:t>Hardware that holds.</a:t>
            </a:r>
            <a:endParaRPr lang="en-US" sz="5400" dirty="0"/>
          </a:p>
        </p:txBody>
      </p:sp>
      <p:sp>
        <p:nvSpPr>
          <p:cNvPr id="5" name="Text 2"/>
          <p:cNvSpPr/>
          <p:nvPr/>
        </p:nvSpPr>
        <p:spPr>
          <a:xfrm>
            <a:off x="1143000" y="3620041"/>
            <a:ext cx="12753974" cy="424783"/>
          </a:xfrm>
          <a:prstGeom prst="rect">
            <a:avLst/>
          </a:prstGeom>
          <a:noFill/>
          <a:ln/>
        </p:spPr>
        <p:txBody>
          <a:bodyPr wrap="square" lIns="25400" tIns="25400" rIns="25400" bIns="25400" rtlCol="0" anchor="t">
            <a:normAutofit/>
          </a:bodyPr>
          <a:lstStyle/>
          <a:p>
            <a:pPr algn="l" indent="0" marL="0">
              <a:lnSpc>
                <a:spcPct val="145000"/>
              </a:lnSpc>
              <a:buNone/>
            </a:pPr>
            <a:r>
              <a:rPr lang="en-US" sz="2100" spc="-11" kern="0" dirty="0">
                <a:solidFill>
                  <a:srgbClr val="586E75"/>
                </a:solidFill>
                <a:latin typeface="Arial" pitchFamily="34" charset="0"/>
                <a:ea typeface="Arial" pitchFamily="34" charset="-122"/>
                <a:cs typeface="Arial" pitchFamily="34" charset="-120"/>
              </a:rPr>
              <a:t>Du matériel qui tient. Quatre instruments, une mission chacun.</a:t>
            </a:r>
            <a:endParaRPr lang="en-US" sz="2100" dirty="0"/>
          </a:p>
        </p:txBody>
      </p:sp>
      <p:sp>
        <p:nvSpPr>
          <p:cNvPr id="6" name="Shape 3"/>
          <p:cNvSpPr/>
          <p:nvPr/>
        </p:nvSpPr>
        <p:spPr>
          <a:xfrm>
            <a:off x="1143000" y="4501915"/>
            <a:ext cx="8000999" cy="9525"/>
          </a:xfrm>
          <a:prstGeom prst="rect">
            <a:avLst/>
          </a:prstGeom>
          <a:solidFill>
            <a:srgbClr val="002B36">
              <a:alpha val="16000"/>
            </a:srgbClr>
          </a:solidFill>
          <a:ln/>
        </p:spPr>
      </p:sp>
      <p:sp>
        <p:nvSpPr>
          <p:cNvPr id="7" name="Shape 4"/>
          <p:cNvSpPr/>
          <p:nvPr/>
        </p:nvSpPr>
        <p:spPr>
          <a:xfrm>
            <a:off x="9138227" y="4501915"/>
            <a:ext cx="9525" cy="3101488"/>
          </a:xfrm>
          <a:prstGeom prst="rect">
            <a:avLst/>
          </a:prstGeom>
          <a:solidFill>
            <a:srgbClr val="002B36">
              <a:alpha val="10000"/>
            </a:srgbClr>
          </a:solidFill>
          <a:ln/>
        </p:spPr>
      </p:sp>
      <p:sp>
        <p:nvSpPr>
          <p:cNvPr id="8" name="Text 5"/>
          <p:cNvSpPr/>
          <p:nvPr/>
        </p:nvSpPr>
        <p:spPr>
          <a:xfrm>
            <a:off x="1143000" y="4717220"/>
            <a:ext cx="7685738"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002B36"/>
                </a:solidFill>
                <a:latin typeface="Arial" pitchFamily="34" charset="0"/>
                <a:ea typeface="Arial" pitchFamily="34" charset="-122"/>
                <a:cs typeface="Arial" pitchFamily="34" charset="-120"/>
              </a:rPr>
              <a:t>Drive</a:t>
            </a:r>
            <a:endParaRPr lang="en-US" sz="3300" dirty="0"/>
          </a:p>
        </p:txBody>
      </p:sp>
      <p:sp>
        <p:nvSpPr>
          <p:cNvPr id="9" name="Text 6"/>
          <p:cNvSpPr/>
          <p:nvPr/>
        </p:nvSpPr>
        <p:spPr>
          <a:xfrm>
            <a:off x="1143000" y="5195274"/>
            <a:ext cx="7685738" cy="320964"/>
          </a:xfrm>
          <a:prstGeom prst="rect">
            <a:avLst/>
          </a:prstGeom>
          <a:noFill/>
          <a:ln/>
        </p:spPr>
        <p:txBody>
          <a:bodyPr wrap="square" lIns="25400" tIns="25400" rIns="25400" bIns="25400" rtlCol="0" anchor="t">
            <a:normAutofit/>
          </a:bodyPr>
          <a:lstStyle/>
          <a:p>
            <a:pPr algn="l" indent="0" marL="0">
              <a:buNone/>
            </a:pPr>
            <a:r>
              <a:rPr lang="en-US" sz="1950" dirty="0">
                <a:solidFill>
                  <a:srgbClr val="586E75"/>
                </a:solidFill>
                <a:latin typeface="Arial" pitchFamily="34" charset="0"/>
                <a:ea typeface="Arial" pitchFamily="34" charset="-122"/>
                <a:cs typeface="Arial" pitchFamily="34" charset="-120"/>
              </a:rPr>
              <a:t>Encrypted USB storage</a:t>
            </a:r>
            <a:endParaRPr lang="en-US" sz="1950" dirty="0"/>
          </a:p>
        </p:txBody>
      </p:sp>
      <p:sp>
        <p:nvSpPr>
          <p:cNvPr id="10" name="Text 7"/>
          <p:cNvSpPr/>
          <p:nvPr/>
        </p:nvSpPr>
        <p:spPr>
          <a:xfrm>
            <a:off x="1143000" y="5763797"/>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02B36"/>
                </a:solidFill>
                <a:latin typeface="Arial" pitchFamily="34" charset="0"/>
                <a:ea typeface="Arial" pitchFamily="34" charset="-122"/>
                <a:cs typeface="Arial" pitchFamily="34" charset="-120"/>
              </a:rPr>
              <a:t>On-device authentication. AES-256-XTS. Tamper-evident enclosure.</a:t>
            </a:r>
            <a:endParaRPr lang="en-US" sz="1800" dirty="0"/>
          </a:p>
        </p:txBody>
      </p:sp>
      <p:sp>
        <p:nvSpPr>
          <p:cNvPr id="11" name="Text 8"/>
          <p:cNvSpPr/>
          <p:nvPr/>
        </p:nvSpPr>
        <p:spPr>
          <a:xfrm>
            <a:off x="1143000" y="6894981"/>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Authentification sur l'appareil. Boîtier inviolable.</a:t>
            </a:r>
            <a:endParaRPr lang="en-US" sz="1800" dirty="0"/>
          </a:p>
        </p:txBody>
      </p:sp>
      <p:sp>
        <p:nvSpPr>
          <p:cNvPr id="12" name="Shape 9"/>
          <p:cNvSpPr/>
          <p:nvPr/>
        </p:nvSpPr>
        <p:spPr>
          <a:xfrm>
            <a:off x="9143999" y="4501915"/>
            <a:ext cx="8000999" cy="9525"/>
          </a:xfrm>
          <a:prstGeom prst="rect">
            <a:avLst/>
          </a:prstGeom>
          <a:solidFill>
            <a:srgbClr val="002B36">
              <a:alpha val="16000"/>
            </a:srgbClr>
          </a:solidFill>
          <a:ln/>
        </p:spPr>
      </p:sp>
      <p:sp>
        <p:nvSpPr>
          <p:cNvPr id="13" name="Text 10"/>
          <p:cNvSpPr/>
          <p:nvPr/>
        </p:nvSpPr>
        <p:spPr>
          <a:xfrm>
            <a:off x="9677345" y="4717220"/>
            <a:ext cx="7220841"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002B36"/>
                </a:solidFill>
                <a:latin typeface="Arial" pitchFamily="34" charset="0"/>
                <a:ea typeface="Arial" pitchFamily="34" charset="-122"/>
                <a:cs typeface="Arial" pitchFamily="34" charset="-120"/>
              </a:rPr>
              <a:t>HSM</a:t>
            </a:r>
            <a:endParaRPr lang="en-US" sz="3300" dirty="0"/>
          </a:p>
        </p:txBody>
      </p:sp>
      <p:sp>
        <p:nvSpPr>
          <p:cNvPr id="14" name="Text 11"/>
          <p:cNvSpPr/>
          <p:nvPr/>
        </p:nvSpPr>
        <p:spPr>
          <a:xfrm>
            <a:off x="9677345" y="5195274"/>
            <a:ext cx="7220841" cy="320964"/>
          </a:xfrm>
          <a:prstGeom prst="rect">
            <a:avLst/>
          </a:prstGeom>
          <a:noFill/>
          <a:ln/>
        </p:spPr>
        <p:txBody>
          <a:bodyPr wrap="square" lIns="25400" tIns="25400" rIns="25400" bIns="25400" rtlCol="0" anchor="t">
            <a:normAutofit/>
          </a:bodyPr>
          <a:lstStyle/>
          <a:p>
            <a:pPr algn="l" indent="0" marL="0">
              <a:buNone/>
            </a:pPr>
            <a:r>
              <a:rPr lang="en-US" sz="1950" dirty="0">
                <a:solidFill>
                  <a:srgbClr val="586E75"/>
                </a:solidFill>
                <a:latin typeface="Arial" pitchFamily="34" charset="0"/>
                <a:ea typeface="Arial" pitchFamily="34" charset="-122"/>
                <a:cs typeface="Arial" pitchFamily="34" charset="-120"/>
              </a:rPr>
              <a:t>Hardware security module</a:t>
            </a:r>
            <a:endParaRPr lang="en-US" sz="1950" dirty="0"/>
          </a:p>
        </p:txBody>
      </p:sp>
      <p:sp>
        <p:nvSpPr>
          <p:cNvPr id="15" name="Text 12"/>
          <p:cNvSpPr/>
          <p:nvPr/>
        </p:nvSpPr>
        <p:spPr>
          <a:xfrm>
            <a:off x="9677345" y="5763797"/>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02B36"/>
                </a:solidFill>
                <a:latin typeface="Arial" pitchFamily="34" charset="0"/>
                <a:ea typeface="Arial" pitchFamily="34" charset="-122"/>
                <a:cs typeface="Arial" pitchFamily="34" charset="-120"/>
              </a:rPr>
              <a:t>Keys never touch a general-purpose computer. FIPS 140-3 L3.</a:t>
            </a:r>
            <a:endParaRPr lang="en-US" sz="1800" dirty="0"/>
          </a:p>
        </p:txBody>
      </p:sp>
      <p:sp>
        <p:nvSpPr>
          <p:cNvPr id="16" name="Text 13"/>
          <p:cNvSpPr/>
          <p:nvPr/>
        </p:nvSpPr>
        <p:spPr>
          <a:xfrm>
            <a:off x="9677345" y="6894981"/>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Les clés ne quittent jamais le module.</a:t>
            </a:r>
            <a:endParaRPr lang="en-US" sz="1800" dirty="0"/>
          </a:p>
        </p:txBody>
      </p:sp>
      <p:sp>
        <p:nvSpPr>
          <p:cNvPr id="17" name="Shape 14"/>
          <p:cNvSpPr/>
          <p:nvPr/>
        </p:nvSpPr>
        <p:spPr>
          <a:xfrm>
            <a:off x="1143000" y="7603403"/>
            <a:ext cx="8000999" cy="9525"/>
          </a:xfrm>
          <a:prstGeom prst="rect">
            <a:avLst/>
          </a:prstGeom>
          <a:solidFill>
            <a:srgbClr val="002B36">
              <a:alpha val="16000"/>
            </a:srgbClr>
          </a:solidFill>
          <a:ln/>
        </p:spPr>
      </p:sp>
      <p:sp>
        <p:nvSpPr>
          <p:cNvPr id="18" name="Shape 15"/>
          <p:cNvSpPr/>
          <p:nvPr/>
        </p:nvSpPr>
        <p:spPr>
          <a:xfrm>
            <a:off x="9138227" y="7603403"/>
            <a:ext cx="9525" cy="3101488"/>
          </a:xfrm>
          <a:prstGeom prst="rect">
            <a:avLst/>
          </a:prstGeom>
          <a:solidFill>
            <a:srgbClr val="002B36">
              <a:alpha val="10000"/>
            </a:srgbClr>
          </a:solidFill>
          <a:ln/>
        </p:spPr>
      </p:sp>
      <p:sp>
        <p:nvSpPr>
          <p:cNvPr id="19" name="Text 16"/>
          <p:cNvSpPr/>
          <p:nvPr/>
        </p:nvSpPr>
        <p:spPr>
          <a:xfrm>
            <a:off x="1143000" y="7818708"/>
            <a:ext cx="7685738"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002B36"/>
                </a:solidFill>
                <a:latin typeface="Arial" pitchFamily="34" charset="0"/>
                <a:ea typeface="Arial" pitchFamily="34" charset="-122"/>
                <a:cs typeface="Arial" pitchFamily="34" charset="-120"/>
              </a:rPr>
              <a:t>Scan</a:t>
            </a:r>
            <a:endParaRPr lang="en-US" sz="3300" dirty="0"/>
          </a:p>
        </p:txBody>
      </p:sp>
      <p:sp>
        <p:nvSpPr>
          <p:cNvPr id="20" name="Text 17"/>
          <p:cNvSpPr/>
          <p:nvPr/>
        </p:nvSpPr>
        <p:spPr>
          <a:xfrm>
            <a:off x="1143000" y="8296762"/>
            <a:ext cx="7685738" cy="320964"/>
          </a:xfrm>
          <a:prstGeom prst="rect">
            <a:avLst/>
          </a:prstGeom>
          <a:noFill/>
          <a:ln/>
        </p:spPr>
        <p:txBody>
          <a:bodyPr wrap="square" lIns="25400" tIns="25400" rIns="25400" bIns="25400" rtlCol="0" anchor="t">
            <a:normAutofit/>
          </a:bodyPr>
          <a:lstStyle/>
          <a:p>
            <a:pPr algn="l" indent="0" marL="0">
              <a:buNone/>
            </a:pPr>
            <a:r>
              <a:rPr lang="en-US" sz="1950" dirty="0">
                <a:solidFill>
                  <a:srgbClr val="586E75"/>
                </a:solidFill>
                <a:latin typeface="Arial" pitchFamily="34" charset="0"/>
                <a:ea typeface="Arial" pitchFamily="34" charset="-122"/>
                <a:cs typeface="Arial" pitchFamily="34" charset="-120"/>
              </a:rPr>
              <a:t>Biometric terminal</a:t>
            </a:r>
            <a:endParaRPr lang="en-US" sz="1950" dirty="0"/>
          </a:p>
        </p:txBody>
      </p:sp>
      <p:sp>
        <p:nvSpPr>
          <p:cNvPr id="21" name="Text 18"/>
          <p:cNvSpPr/>
          <p:nvPr/>
        </p:nvSpPr>
        <p:spPr>
          <a:xfrm>
            <a:off x="1143000" y="8865285"/>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02B36"/>
                </a:solidFill>
                <a:latin typeface="Arial" pitchFamily="34" charset="0"/>
                <a:ea typeface="Arial" pitchFamily="34" charset="-122"/>
                <a:cs typeface="Arial" pitchFamily="34" charset="-120"/>
              </a:rPr>
              <a:t>Templates stay on the device. No upload path exists, by design.</a:t>
            </a:r>
            <a:endParaRPr lang="en-US" sz="1800" dirty="0"/>
          </a:p>
        </p:txBody>
      </p:sp>
      <p:sp>
        <p:nvSpPr>
          <p:cNvPr id="22" name="Text 19"/>
          <p:cNvSpPr/>
          <p:nvPr/>
        </p:nvSpPr>
        <p:spPr>
          <a:xfrm>
            <a:off x="1143000" y="9996469"/>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Les gabarits restent sur l'appareil.</a:t>
            </a:r>
            <a:endParaRPr lang="en-US" sz="1800" dirty="0"/>
          </a:p>
        </p:txBody>
      </p:sp>
      <p:sp>
        <p:nvSpPr>
          <p:cNvPr id="23" name="Shape 20"/>
          <p:cNvSpPr/>
          <p:nvPr/>
        </p:nvSpPr>
        <p:spPr>
          <a:xfrm>
            <a:off x="9143999" y="7603403"/>
            <a:ext cx="8000999" cy="9525"/>
          </a:xfrm>
          <a:prstGeom prst="rect">
            <a:avLst/>
          </a:prstGeom>
          <a:solidFill>
            <a:srgbClr val="002B36">
              <a:alpha val="16000"/>
            </a:srgbClr>
          </a:solidFill>
          <a:ln/>
        </p:spPr>
      </p:sp>
      <p:sp>
        <p:nvSpPr>
          <p:cNvPr id="24" name="Text 21"/>
          <p:cNvSpPr/>
          <p:nvPr/>
        </p:nvSpPr>
        <p:spPr>
          <a:xfrm>
            <a:off x="9677345" y="7818708"/>
            <a:ext cx="7220841"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002B36"/>
                </a:solidFill>
                <a:latin typeface="Arial" pitchFamily="34" charset="0"/>
                <a:ea typeface="Arial" pitchFamily="34" charset="-122"/>
                <a:cs typeface="Arial" pitchFamily="34" charset="-120"/>
              </a:rPr>
              <a:t>Gate</a:t>
            </a:r>
            <a:endParaRPr lang="en-US" sz="3300" dirty="0"/>
          </a:p>
        </p:txBody>
      </p:sp>
      <p:sp>
        <p:nvSpPr>
          <p:cNvPr id="25" name="Text 22"/>
          <p:cNvSpPr/>
          <p:nvPr/>
        </p:nvSpPr>
        <p:spPr>
          <a:xfrm>
            <a:off x="9677345" y="8296762"/>
            <a:ext cx="7220841" cy="320964"/>
          </a:xfrm>
          <a:prstGeom prst="rect">
            <a:avLst/>
          </a:prstGeom>
          <a:noFill/>
          <a:ln/>
        </p:spPr>
        <p:txBody>
          <a:bodyPr wrap="square" lIns="25400" tIns="25400" rIns="25400" bIns="25400" rtlCol="0" anchor="t">
            <a:normAutofit/>
          </a:bodyPr>
          <a:lstStyle/>
          <a:p>
            <a:pPr algn="l" indent="0" marL="0">
              <a:buNone/>
            </a:pPr>
            <a:r>
              <a:rPr lang="en-US" sz="1950" dirty="0">
                <a:solidFill>
                  <a:srgbClr val="586E75"/>
                </a:solidFill>
                <a:latin typeface="Arial" pitchFamily="34" charset="0"/>
                <a:ea typeface="Arial" pitchFamily="34" charset="-122"/>
                <a:cs typeface="Arial" pitchFamily="34" charset="-120"/>
              </a:rPr>
              <a:t>Network appliance</a:t>
            </a:r>
            <a:endParaRPr lang="en-US" sz="1950" dirty="0"/>
          </a:p>
        </p:txBody>
      </p:sp>
      <p:sp>
        <p:nvSpPr>
          <p:cNvPr id="26" name="Text 23"/>
          <p:cNvSpPr/>
          <p:nvPr/>
        </p:nvSpPr>
        <p:spPr>
          <a:xfrm>
            <a:off x="9677345" y="8865285"/>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02B36"/>
                </a:solidFill>
                <a:latin typeface="Arial" pitchFamily="34" charset="0"/>
                <a:ea typeface="Arial" pitchFamily="34" charset="-122"/>
                <a:cs typeface="Arial" pitchFamily="34" charset="-120"/>
              </a:rPr>
              <a:t>A real perimeter when you need one. Logs flow to VaultMonitor.</a:t>
            </a:r>
            <a:endParaRPr lang="en-US" sz="1800" dirty="0"/>
          </a:p>
        </p:txBody>
      </p:sp>
      <p:sp>
        <p:nvSpPr>
          <p:cNvPr id="27" name="Text 24"/>
          <p:cNvSpPr/>
          <p:nvPr/>
        </p:nvSpPr>
        <p:spPr>
          <a:xfrm>
            <a:off x="9677345" y="9996469"/>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86E75"/>
                </a:solidFill>
                <a:latin typeface="Arial" pitchFamily="34" charset="0"/>
                <a:ea typeface="Arial" pitchFamily="34" charset="-122"/>
                <a:cs typeface="Arial" pitchFamily="34" charset="-120"/>
              </a:rPr>
              <a:t>Un périmètre réel. Journaux vers VaultMonitor.</a:t>
            </a:r>
            <a:endParaRPr lang="en-US" sz="1800" dirty="0"/>
          </a:p>
        </p:txBody>
      </p:sp>
      <p:sp>
        <p:nvSpPr>
          <p:cNvPr id="28" name="Text 25"/>
          <p:cNvSpPr/>
          <p:nvPr/>
        </p:nvSpPr>
        <p:spPr>
          <a:xfrm>
            <a:off x="1143000" y="11238236"/>
            <a:ext cx="590605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Matte hardware · gold V · no glow</a:t>
            </a:r>
            <a:endParaRPr lang="en-US" sz="1800" dirty="0"/>
          </a:p>
        </p:txBody>
      </p:sp>
      <p:sp>
        <p:nvSpPr>
          <p:cNvPr id="29" name="Text 26"/>
          <p:cNvSpPr/>
          <p:nvPr/>
        </p:nvSpPr>
        <p:spPr>
          <a:xfrm>
            <a:off x="15928667" y="11238236"/>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06 / 10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36"/>
        </a:solidFill>
      </p:bgPr>
    </p:bg>
    <p:spTree>
      <p:nvGrpSpPr>
        <p:cNvPr id="1" name=""/>
        <p:cNvGrpSpPr/>
        <p:nvPr/>
      </p:nvGrpSpPr>
      <p:grpSpPr>
        <a:xfrm>
          <a:off x="0" y="0"/>
          <a:ext cx="0" cy="0"/>
          <a:chOff x="0" y="0"/>
          <a:chExt cx="0" cy="0"/>
        </a:xfrm>
      </p:grpSpPr>
      <p:sp>
        <p:nvSpPr>
          <p:cNvPr id="2" name="Text 0"/>
          <p:cNvSpPr/>
          <p:nvPr/>
        </p:nvSpPr>
        <p:spPr>
          <a:xfrm>
            <a:off x="1143000" y="1032146"/>
            <a:ext cx="23351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07 — SOFTWARE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364383"/>
            <a:ext cx="16482059" cy="758158"/>
          </a:xfrm>
          <a:prstGeom prst="rect">
            <a:avLst/>
          </a:prstGeom>
          <a:noFill/>
          <a:ln/>
        </p:spPr>
        <p:txBody>
          <a:bodyPr wrap="square" lIns="25400" tIns="25400" rIns="25400" bIns="25400" rtlCol="0" anchor="t">
            <a:normAutofit/>
          </a:bodyPr>
          <a:lstStyle/>
          <a:p>
            <a:pPr algn="l" indent="0" marL="0">
              <a:lnSpc>
                <a:spcPct val="105000"/>
              </a:lnSpc>
              <a:buNone/>
            </a:pPr>
            <a:r>
              <a:rPr lang="en-US" sz="5400" spc="-135" kern="0" dirty="0">
                <a:solidFill>
                  <a:srgbClr val="FDF6E3"/>
                </a:solidFill>
                <a:latin typeface="Arial" pitchFamily="34" charset="0"/>
                <a:ea typeface="Arial" pitchFamily="34" charset="-122"/>
                <a:cs typeface="Arial" pitchFamily="34" charset="-120"/>
              </a:rPr>
              <a:t>Software that serves.</a:t>
            </a:r>
            <a:endParaRPr lang="en-US" sz="5400" dirty="0"/>
          </a:p>
        </p:txBody>
      </p:sp>
      <p:sp>
        <p:nvSpPr>
          <p:cNvPr id="5" name="Text 2"/>
          <p:cNvSpPr/>
          <p:nvPr/>
        </p:nvSpPr>
        <p:spPr>
          <a:xfrm>
            <a:off x="1143000" y="3620041"/>
            <a:ext cx="12753974" cy="424783"/>
          </a:xfrm>
          <a:prstGeom prst="rect">
            <a:avLst/>
          </a:prstGeom>
          <a:noFill/>
          <a:ln/>
        </p:spPr>
        <p:txBody>
          <a:bodyPr wrap="square" lIns="25400" tIns="25400" rIns="25400" bIns="25400" rtlCol="0" anchor="t">
            <a:normAutofit/>
          </a:bodyPr>
          <a:lstStyle/>
          <a:p>
            <a:pPr algn="l" indent="0" marL="0">
              <a:lnSpc>
                <a:spcPct val="145000"/>
              </a:lnSpc>
              <a:buNone/>
            </a:pPr>
            <a:r>
              <a:rPr lang="en-US" sz="2100" spc="-11" kern="0" dirty="0">
                <a:solidFill>
                  <a:srgbClr val="FDF6E3">
                    <a:alpha val="62000"/>
                  </a:srgbClr>
                </a:solidFill>
                <a:latin typeface="Arial" pitchFamily="34" charset="0"/>
                <a:ea typeface="Arial" pitchFamily="34" charset="-122"/>
                <a:cs typeface="Arial" pitchFamily="34" charset="-120"/>
              </a:rPr>
              <a:t>Des logiciels au service. Same shape as the hardware. Different layer.</a:t>
            </a:r>
            <a:endParaRPr lang="en-US" sz="2100" dirty="0"/>
          </a:p>
        </p:txBody>
      </p:sp>
      <p:sp>
        <p:nvSpPr>
          <p:cNvPr id="6" name="Shape 3"/>
          <p:cNvSpPr/>
          <p:nvPr/>
        </p:nvSpPr>
        <p:spPr>
          <a:xfrm>
            <a:off x="1143000" y="4501915"/>
            <a:ext cx="8000999" cy="9525"/>
          </a:xfrm>
          <a:prstGeom prst="rect">
            <a:avLst/>
          </a:prstGeom>
          <a:solidFill>
            <a:srgbClr val="FDF6E3">
              <a:alpha val="20000"/>
            </a:srgbClr>
          </a:solidFill>
          <a:ln/>
        </p:spPr>
      </p:sp>
      <p:sp>
        <p:nvSpPr>
          <p:cNvPr id="7" name="Shape 4"/>
          <p:cNvSpPr/>
          <p:nvPr/>
        </p:nvSpPr>
        <p:spPr>
          <a:xfrm>
            <a:off x="9138227" y="4501915"/>
            <a:ext cx="9525" cy="3101488"/>
          </a:xfrm>
          <a:prstGeom prst="rect">
            <a:avLst/>
          </a:prstGeom>
          <a:solidFill>
            <a:srgbClr val="FDF6E3">
              <a:alpha val="14000"/>
            </a:srgbClr>
          </a:solidFill>
          <a:ln/>
        </p:spPr>
      </p:sp>
      <p:sp>
        <p:nvSpPr>
          <p:cNvPr id="8" name="Text 5"/>
          <p:cNvSpPr/>
          <p:nvPr/>
        </p:nvSpPr>
        <p:spPr>
          <a:xfrm>
            <a:off x="1143000" y="4717220"/>
            <a:ext cx="7685738"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FDF6E3"/>
                </a:solidFill>
                <a:latin typeface="Arial" pitchFamily="34" charset="0"/>
                <a:ea typeface="Arial" pitchFamily="34" charset="-122"/>
                <a:cs typeface="Arial" pitchFamily="34" charset="-120"/>
              </a:rPr>
              <a:t>Crypt</a:t>
            </a:r>
            <a:endParaRPr lang="en-US" sz="3300" dirty="0"/>
          </a:p>
        </p:txBody>
      </p:sp>
      <p:sp>
        <p:nvSpPr>
          <p:cNvPr id="9" name="Text 6"/>
          <p:cNvSpPr/>
          <p:nvPr/>
        </p:nvSpPr>
        <p:spPr>
          <a:xfrm>
            <a:off x="1143000" y="5195274"/>
            <a:ext cx="7685738" cy="320964"/>
          </a:xfrm>
          <a:prstGeom prst="rect">
            <a:avLst/>
          </a:prstGeom>
          <a:noFill/>
          <a:ln/>
        </p:spPr>
        <p:txBody>
          <a:bodyPr wrap="square" lIns="25400" tIns="25400" rIns="25400" bIns="25400" rtlCol="0" anchor="t">
            <a:normAutofit/>
          </a:bodyPr>
          <a:lstStyle/>
          <a:p>
            <a:pPr algn="l" indent="0" marL="0">
              <a:buNone/>
            </a:pPr>
            <a:r>
              <a:rPr lang="en-US" sz="1950" dirty="0">
                <a:solidFill>
                  <a:srgbClr val="FDF6E3">
                    <a:alpha val="55000"/>
                  </a:srgbClr>
                </a:solidFill>
                <a:latin typeface="Arial" pitchFamily="34" charset="0"/>
                <a:ea typeface="Arial" pitchFamily="34" charset="-122"/>
                <a:cs typeface="Arial" pitchFamily="34" charset="-120"/>
              </a:rPr>
              <a:t>Encryption</a:t>
            </a:r>
            <a:endParaRPr lang="en-US" sz="1950" dirty="0"/>
          </a:p>
        </p:txBody>
      </p:sp>
      <p:sp>
        <p:nvSpPr>
          <p:cNvPr id="10" name="Text 7"/>
          <p:cNvSpPr/>
          <p:nvPr/>
        </p:nvSpPr>
        <p:spPr>
          <a:xfrm>
            <a:off x="1143000" y="5763797"/>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solidFill>
                <a:latin typeface="Arial" pitchFamily="34" charset="0"/>
                <a:ea typeface="Arial" pitchFamily="34" charset="-122"/>
                <a:cs typeface="Arial" pitchFamily="34" charset="-120"/>
              </a:rPr>
              <a:t>Files, volumes, messages. Algorithm named on the label, not "military-grade."</a:t>
            </a:r>
            <a:endParaRPr lang="en-US" sz="1800" dirty="0"/>
          </a:p>
        </p:txBody>
      </p:sp>
      <p:sp>
        <p:nvSpPr>
          <p:cNvPr id="11" name="Text 8"/>
          <p:cNvSpPr/>
          <p:nvPr/>
        </p:nvSpPr>
        <p:spPr>
          <a:xfrm>
            <a:off x="1143000" y="6894981"/>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alpha val="55000"/>
                  </a:srgbClr>
                </a:solidFill>
                <a:latin typeface="Arial" pitchFamily="34" charset="0"/>
                <a:ea typeface="Arial" pitchFamily="34" charset="-122"/>
                <a:cs typeface="Arial" pitchFamily="34" charset="-120"/>
              </a:rPr>
              <a:t>Fichiers, volumes, messages. L'algorithme est nommé.</a:t>
            </a:r>
            <a:endParaRPr lang="en-US" sz="1800" dirty="0"/>
          </a:p>
        </p:txBody>
      </p:sp>
      <p:sp>
        <p:nvSpPr>
          <p:cNvPr id="12" name="Shape 9"/>
          <p:cNvSpPr/>
          <p:nvPr/>
        </p:nvSpPr>
        <p:spPr>
          <a:xfrm>
            <a:off x="9143999" y="4501915"/>
            <a:ext cx="8000999" cy="9525"/>
          </a:xfrm>
          <a:prstGeom prst="rect">
            <a:avLst/>
          </a:prstGeom>
          <a:solidFill>
            <a:srgbClr val="FDF6E3">
              <a:alpha val="20000"/>
            </a:srgbClr>
          </a:solidFill>
          <a:ln/>
        </p:spPr>
      </p:sp>
      <p:sp>
        <p:nvSpPr>
          <p:cNvPr id="13" name="Text 10"/>
          <p:cNvSpPr/>
          <p:nvPr/>
        </p:nvSpPr>
        <p:spPr>
          <a:xfrm>
            <a:off x="9677345" y="4717220"/>
            <a:ext cx="7220841"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FDF6E3"/>
                </a:solidFill>
                <a:latin typeface="Arial" pitchFamily="34" charset="0"/>
                <a:ea typeface="Arial" pitchFamily="34" charset="-122"/>
                <a:cs typeface="Arial" pitchFamily="34" charset="-120"/>
              </a:rPr>
              <a:t>Access</a:t>
            </a:r>
            <a:endParaRPr lang="en-US" sz="3300" dirty="0"/>
          </a:p>
        </p:txBody>
      </p:sp>
      <p:sp>
        <p:nvSpPr>
          <p:cNvPr id="14" name="Text 11"/>
          <p:cNvSpPr/>
          <p:nvPr/>
        </p:nvSpPr>
        <p:spPr>
          <a:xfrm>
            <a:off x="9677345" y="5195274"/>
            <a:ext cx="7220841" cy="320964"/>
          </a:xfrm>
          <a:prstGeom prst="rect">
            <a:avLst/>
          </a:prstGeom>
          <a:noFill/>
          <a:ln/>
        </p:spPr>
        <p:txBody>
          <a:bodyPr wrap="square" lIns="25400" tIns="25400" rIns="25400" bIns="25400" rtlCol="0" anchor="t">
            <a:normAutofit/>
          </a:bodyPr>
          <a:lstStyle/>
          <a:p>
            <a:pPr algn="l" indent="0" marL="0">
              <a:buNone/>
            </a:pPr>
            <a:r>
              <a:rPr lang="en-US" sz="1950" dirty="0">
                <a:solidFill>
                  <a:srgbClr val="FDF6E3">
                    <a:alpha val="55000"/>
                  </a:srgbClr>
                </a:solidFill>
                <a:latin typeface="Arial" pitchFamily="34" charset="0"/>
                <a:ea typeface="Arial" pitchFamily="34" charset="-122"/>
                <a:cs typeface="Arial" pitchFamily="34" charset="-120"/>
              </a:rPr>
              <a:t>Zero-trust IAM</a:t>
            </a:r>
            <a:endParaRPr lang="en-US" sz="1950" dirty="0"/>
          </a:p>
        </p:txBody>
      </p:sp>
      <p:sp>
        <p:nvSpPr>
          <p:cNvPr id="15" name="Text 12"/>
          <p:cNvSpPr/>
          <p:nvPr/>
        </p:nvSpPr>
        <p:spPr>
          <a:xfrm>
            <a:off x="9677345" y="5763797"/>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solidFill>
                <a:latin typeface="Arial" pitchFamily="34" charset="0"/>
                <a:ea typeface="Arial" pitchFamily="34" charset="-122"/>
                <a:cs typeface="Arial" pitchFamily="34" charset="-120"/>
              </a:rPr>
              <a:t>Every request authenticated, every session scoped. No standing trust, anywhere.</a:t>
            </a:r>
            <a:endParaRPr lang="en-US" sz="1800" dirty="0"/>
          </a:p>
        </p:txBody>
      </p:sp>
      <p:sp>
        <p:nvSpPr>
          <p:cNvPr id="16" name="Text 13"/>
          <p:cNvSpPr/>
          <p:nvPr/>
        </p:nvSpPr>
        <p:spPr>
          <a:xfrm>
            <a:off x="9677345" y="6894981"/>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alpha val="55000"/>
                  </a:srgbClr>
                </a:solidFill>
                <a:latin typeface="Arial" pitchFamily="34" charset="0"/>
                <a:ea typeface="Arial" pitchFamily="34" charset="-122"/>
                <a:cs typeface="Arial" pitchFamily="34" charset="-120"/>
              </a:rPr>
              <a:t>Chaque requête authentifiée, chaque session délimitée.</a:t>
            </a:r>
            <a:endParaRPr lang="en-US" sz="1800" dirty="0"/>
          </a:p>
        </p:txBody>
      </p:sp>
      <p:sp>
        <p:nvSpPr>
          <p:cNvPr id="17" name="Shape 14"/>
          <p:cNvSpPr/>
          <p:nvPr/>
        </p:nvSpPr>
        <p:spPr>
          <a:xfrm>
            <a:off x="1143000" y="7603403"/>
            <a:ext cx="8000999" cy="9525"/>
          </a:xfrm>
          <a:prstGeom prst="rect">
            <a:avLst/>
          </a:prstGeom>
          <a:solidFill>
            <a:srgbClr val="FDF6E3">
              <a:alpha val="20000"/>
            </a:srgbClr>
          </a:solidFill>
          <a:ln/>
        </p:spPr>
      </p:sp>
      <p:sp>
        <p:nvSpPr>
          <p:cNvPr id="18" name="Shape 15"/>
          <p:cNvSpPr/>
          <p:nvPr/>
        </p:nvSpPr>
        <p:spPr>
          <a:xfrm>
            <a:off x="9138227" y="7603403"/>
            <a:ext cx="9525" cy="3409968"/>
          </a:xfrm>
          <a:prstGeom prst="rect">
            <a:avLst/>
          </a:prstGeom>
          <a:solidFill>
            <a:srgbClr val="FDF6E3">
              <a:alpha val="14000"/>
            </a:srgbClr>
          </a:solidFill>
          <a:ln/>
        </p:spPr>
      </p:sp>
      <p:sp>
        <p:nvSpPr>
          <p:cNvPr id="19" name="Text 16"/>
          <p:cNvSpPr/>
          <p:nvPr/>
        </p:nvSpPr>
        <p:spPr>
          <a:xfrm>
            <a:off x="1143000" y="7818708"/>
            <a:ext cx="7685738"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FDF6E3"/>
                </a:solidFill>
                <a:latin typeface="Arial" pitchFamily="34" charset="0"/>
                <a:ea typeface="Arial" pitchFamily="34" charset="-122"/>
                <a:cs typeface="Arial" pitchFamily="34" charset="-120"/>
              </a:rPr>
              <a:t>Backup</a:t>
            </a:r>
            <a:endParaRPr lang="en-US" sz="3300" dirty="0"/>
          </a:p>
        </p:txBody>
      </p:sp>
      <p:sp>
        <p:nvSpPr>
          <p:cNvPr id="20" name="Text 17"/>
          <p:cNvSpPr/>
          <p:nvPr/>
        </p:nvSpPr>
        <p:spPr>
          <a:xfrm>
            <a:off x="1143000" y="8296762"/>
            <a:ext cx="7685738" cy="320964"/>
          </a:xfrm>
          <a:prstGeom prst="rect">
            <a:avLst/>
          </a:prstGeom>
          <a:noFill/>
          <a:ln/>
        </p:spPr>
        <p:txBody>
          <a:bodyPr wrap="square" lIns="25400" tIns="25400" rIns="25400" bIns="25400" rtlCol="0" anchor="t">
            <a:normAutofit/>
          </a:bodyPr>
          <a:lstStyle/>
          <a:p>
            <a:pPr algn="l" indent="0" marL="0">
              <a:buNone/>
            </a:pPr>
            <a:r>
              <a:rPr lang="en-US" sz="1950" dirty="0">
                <a:solidFill>
                  <a:srgbClr val="FDF6E3">
                    <a:alpha val="55000"/>
                  </a:srgbClr>
                </a:solidFill>
                <a:latin typeface="Arial" pitchFamily="34" charset="0"/>
                <a:ea typeface="Arial" pitchFamily="34" charset="-122"/>
                <a:cs typeface="Arial" pitchFamily="34" charset="-120"/>
              </a:rPr>
              <a:t>Encrypted backup &amp; DR</a:t>
            </a:r>
            <a:endParaRPr lang="en-US" sz="1950" dirty="0"/>
          </a:p>
        </p:txBody>
      </p:sp>
      <p:sp>
        <p:nvSpPr>
          <p:cNvPr id="21" name="Text 18"/>
          <p:cNvSpPr/>
          <p:nvPr/>
        </p:nvSpPr>
        <p:spPr>
          <a:xfrm>
            <a:off x="1143000" y="8865285"/>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solidFill>
                <a:latin typeface="Arial" pitchFamily="34" charset="0"/>
                <a:ea typeface="Arial" pitchFamily="34" charset="-122"/>
                <a:cs typeface="Arial" pitchFamily="34" charset="-120"/>
              </a:rPr>
              <a:t>Your backups are useless to anyone who steals them — including us.</a:t>
            </a:r>
            <a:endParaRPr lang="en-US" sz="1800" dirty="0"/>
          </a:p>
        </p:txBody>
      </p:sp>
      <p:sp>
        <p:nvSpPr>
          <p:cNvPr id="22" name="Text 19"/>
          <p:cNvSpPr/>
          <p:nvPr/>
        </p:nvSpPr>
        <p:spPr>
          <a:xfrm>
            <a:off x="1143000" y="9996469"/>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alpha val="55000"/>
                  </a:srgbClr>
                </a:solidFill>
                <a:latin typeface="Arial" pitchFamily="34" charset="0"/>
                <a:ea typeface="Arial" pitchFamily="34" charset="-122"/>
                <a:cs typeface="Arial" pitchFamily="34" charset="-120"/>
              </a:rPr>
              <a:t>Vos sauvegardes sont inutilisables pour quiconque les volerait — nous compris.</a:t>
            </a:r>
            <a:endParaRPr lang="en-US" sz="1800" dirty="0"/>
          </a:p>
        </p:txBody>
      </p:sp>
      <p:sp>
        <p:nvSpPr>
          <p:cNvPr id="23" name="Shape 20"/>
          <p:cNvSpPr/>
          <p:nvPr/>
        </p:nvSpPr>
        <p:spPr>
          <a:xfrm>
            <a:off x="9143999" y="7603403"/>
            <a:ext cx="8000999" cy="9525"/>
          </a:xfrm>
          <a:prstGeom prst="rect">
            <a:avLst/>
          </a:prstGeom>
          <a:solidFill>
            <a:srgbClr val="FDF6E3">
              <a:alpha val="20000"/>
            </a:srgbClr>
          </a:solidFill>
          <a:ln/>
        </p:spPr>
      </p:sp>
      <p:sp>
        <p:nvSpPr>
          <p:cNvPr id="24" name="Text 21"/>
          <p:cNvSpPr/>
          <p:nvPr/>
        </p:nvSpPr>
        <p:spPr>
          <a:xfrm>
            <a:off x="9677345" y="7818708"/>
            <a:ext cx="7220841" cy="478090"/>
          </a:xfrm>
          <a:prstGeom prst="rect">
            <a:avLst/>
          </a:prstGeom>
          <a:noFill/>
          <a:ln/>
        </p:spPr>
        <p:txBody>
          <a:bodyPr wrap="square" lIns="25400" tIns="25400" rIns="25400" bIns="25400" rtlCol="0" anchor="t">
            <a:normAutofit/>
          </a:bodyPr>
          <a:lstStyle/>
          <a:p>
            <a:pPr algn="l" indent="0" marL="0">
              <a:lnSpc>
                <a:spcPct val="105000"/>
              </a:lnSpc>
              <a:buNone/>
            </a:pPr>
            <a:r>
              <a:rPr lang="en-US" sz="3300" spc="-59" kern="0" dirty="0">
                <a:solidFill>
                  <a:srgbClr val="CC9B21"/>
                </a:solidFill>
                <a:latin typeface="Arial" pitchFamily="34" charset="0"/>
                <a:ea typeface="Arial" pitchFamily="34" charset="-122"/>
                <a:cs typeface="Arial" pitchFamily="34" charset="-120"/>
              </a:rPr>
              <a:t>Vault</a:t>
            </a:r>
            <a:pPr algn="l" indent="0" marL="0">
              <a:lnSpc>
                <a:spcPct val="105000"/>
              </a:lnSpc>
              <a:buNone/>
            </a:pPr>
            <a:r>
              <a:rPr lang="en-US" sz="3300" spc="-59" kern="0" dirty="0">
                <a:solidFill>
                  <a:srgbClr val="FDF6E3"/>
                </a:solidFill>
                <a:latin typeface="Arial" pitchFamily="34" charset="0"/>
                <a:ea typeface="Arial" pitchFamily="34" charset="-122"/>
                <a:cs typeface="Arial" pitchFamily="34" charset="-120"/>
              </a:rPr>
              <a:t>Monitor</a:t>
            </a:r>
            <a:endParaRPr lang="en-US" sz="3300" dirty="0"/>
          </a:p>
        </p:txBody>
      </p:sp>
      <p:sp>
        <p:nvSpPr>
          <p:cNvPr id="25" name="Text 22"/>
          <p:cNvSpPr/>
          <p:nvPr/>
        </p:nvSpPr>
        <p:spPr>
          <a:xfrm>
            <a:off x="9677345" y="8296762"/>
            <a:ext cx="7220841" cy="320964"/>
          </a:xfrm>
          <a:prstGeom prst="rect">
            <a:avLst/>
          </a:prstGeom>
          <a:noFill/>
          <a:ln/>
        </p:spPr>
        <p:txBody>
          <a:bodyPr wrap="square" lIns="25400" tIns="25400" rIns="25400" bIns="25400" rtlCol="0" anchor="t">
            <a:normAutofit/>
          </a:bodyPr>
          <a:lstStyle/>
          <a:p>
            <a:pPr algn="l" indent="0" marL="0">
              <a:buNone/>
            </a:pPr>
            <a:r>
              <a:rPr lang="en-US" sz="1950" dirty="0">
                <a:solidFill>
                  <a:srgbClr val="FDF6E3">
                    <a:alpha val="55000"/>
                  </a:srgbClr>
                </a:solidFill>
                <a:latin typeface="Arial" pitchFamily="34" charset="0"/>
                <a:ea typeface="Arial" pitchFamily="34" charset="-122"/>
                <a:cs typeface="Arial" pitchFamily="34" charset="-120"/>
              </a:rPr>
              <a:t>SIEM &amp; threat detection</a:t>
            </a:r>
            <a:endParaRPr lang="en-US" sz="1950" dirty="0"/>
          </a:p>
        </p:txBody>
      </p:sp>
      <p:sp>
        <p:nvSpPr>
          <p:cNvPr id="26" name="Text 23"/>
          <p:cNvSpPr/>
          <p:nvPr/>
        </p:nvSpPr>
        <p:spPr>
          <a:xfrm>
            <a:off x="9677345" y="8865285"/>
            <a:ext cx="6082664" cy="65506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solidFill>
                <a:latin typeface="Arial" pitchFamily="34" charset="0"/>
                <a:ea typeface="Arial" pitchFamily="34" charset="-122"/>
                <a:cs typeface="Arial" pitchFamily="34" charset="-120"/>
              </a:rPr>
              <a:t>Calm telemetry. No scoreboard. No gamification. Just signal you can act on.</a:t>
            </a:r>
            <a:endParaRPr lang="en-US" sz="1800" dirty="0"/>
          </a:p>
        </p:txBody>
      </p:sp>
      <p:sp>
        <p:nvSpPr>
          <p:cNvPr id="27" name="Text 24"/>
          <p:cNvSpPr/>
          <p:nvPr/>
        </p:nvSpPr>
        <p:spPr>
          <a:xfrm>
            <a:off x="9677345" y="9996469"/>
            <a:ext cx="6082664" cy="34658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FDF6E3">
                    <a:alpha val="55000"/>
                  </a:srgbClr>
                </a:solidFill>
                <a:latin typeface="Arial" pitchFamily="34" charset="0"/>
                <a:ea typeface="Arial" pitchFamily="34" charset="-122"/>
                <a:cs typeface="Arial" pitchFamily="34" charset="-120"/>
              </a:rPr>
              <a:t>Télémétrie calme. Aucun tableau de classement.</a:t>
            </a:r>
            <a:endParaRPr lang="en-US" sz="1800" dirty="0"/>
          </a:p>
        </p:txBody>
      </p:sp>
      <p:sp>
        <p:nvSpPr>
          <p:cNvPr id="28" name="Text 25"/>
          <p:cNvSpPr/>
          <p:nvPr/>
        </p:nvSpPr>
        <p:spPr>
          <a:xfrm>
            <a:off x="1143000" y="11546716"/>
            <a:ext cx="69799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Hardware and software compose by design</a:t>
            </a:r>
            <a:endParaRPr lang="en-US" sz="1800" dirty="0"/>
          </a:p>
        </p:txBody>
      </p:sp>
      <p:sp>
        <p:nvSpPr>
          <p:cNvPr id="29" name="Text 26"/>
          <p:cNvSpPr/>
          <p:nvPr/>
        </p:nvSpPr>
        <p:spPr>
          <a:xfrm>
            <a:off x="15928667" y="11546716"/>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07 / 10</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2335140"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08 — LANGUAGE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466488"/>
            <a:ext cx="16482059" cy="918170"/>
          </a:xfrm>
          <a:prstGeom prst="rect">
            <a:avLst/>
          </a:prstGeom>
          <a:noFill/>
          <a:ln/>
        </p:spPr>
        <p:txBody>
          <a:bodyPr wrap="square" lIns="25400" tIns="25400" rIns="25400" bIns="25400" rtlCol="0" anchor="t">
            <a:normAutofit/>
          </a:bodyPr>
          <a:lstStyle/>
          <a:p>
            <a:pPr algn="l" indent="0" marL="0">
              <a:lnSpc>
                <a:spcPct val="105000"/>
              </a:lnSpc>
              <a:buNone/>
            </a:pPr>
            <a:r>
              <a:rPr lang="en-US" sz="6600" spc="-165" kern="0" dirty="0">
                <a:solidFill>
                  <a:srgbClr val="002B36"/>
                </a:solidFill>
                <a:latin typeface="Arial" pitchFamily="34" charset="0"/>
                <a:ea typeface="Arial" pitchFamily="34" charset="-122"/>
                <a:cs typeface="Arial" pitchFamily="34" charset="-120"/>
              </a:rPr>
              <a:t>Bilingual by design.</a:t>
            </a:r>
            <a:endParaRPr lang="en-US" sz="6600" dirty="0"/>
          </a:p>
        </p:txBody>
      </p:sp>
      <p:sp>
        <p:nvSpPr>
          <p:cNvPr id="5" name="Text 2"/>
          <p:cNvSpPr/>
          <p:nvPr/>
        </p:nvSpPr>
        <p:spPr>
          <a:xfrm>
            <a:off x="1143000" y="3984264"/>
            <a:ext cx="12753974" cy="1085670"/>
          </a:xfrm>
          <a:prstGeom prst="rect">
            <a:avLst/>
          </a:prstGeom>
          <a:noFill/>
          <a:ln/>
        </p:spPr>
        <p:txBody>
          <a:bodyPr wrap="square" lIns="25400" tIns="25400" rIns="25400" bIns="25400" rtlCol="0" anchor="t">
            <a:normAutofit/>
          </a:bodyPr>
          <a:lstStyle/>
          <a:p>
            <a:pPr algn="l" indent="0" marL="0">
              <a:lnSpc>
                <a:spcPct val="125000"/>
              </a:lnSpc>
              <a:buNone/>
            </a:pPr>
            <a:r>
              <a:rPr lang="en-US" sz="3300" spc="-33" kern="0" dirty="0">
                <a:solidFill>
                  <a:srgbClr val="586E75"/>
                </a:solidFill>
                <a:latin typeface="Arial" pitchFamily="34" charset="0"/>
                <a:ea typeface="Arial" pitchFamily="34" charset="-122"/>
                <a:cs typeface="Arial" pitchFamily="34" charset="-120"/>
              </a:rPr>
              <a:t>Every string ships in EN and Quebec FR — same release, same care.</a:t>
            </a:r>
            <a:endParaRPr lang="en-US" sz="3300" dirty="0"/>
          </a:p>
        </p:txBody>
      </p:sp>
      <p:sp>
        <p:nvSpPr>
          <p:cNvPr id="6" name="Shape 3"/>
          <p:cNvSpPr/>
          <p:nvPr/>
        </p:nvSpPr>
        <p:spPr>
          <a:xfrm>
            <a:off x="1143000" y="5908025"/>
            <a:ext cx="7619999" cy="4527081"/>
          </a:xfrm>
          <a:prstGeom prst="roundRect">
            <a:avLst>
              <a:gd name="adj" fmla="val 4208"/>
            </a:avLst>
          </a:prstGeom>
          <a:solidFill>
            <a:srgbClr val="FDFCF7"/>
          </a:solidFill>
          <a:ln w="5773">
            <a:solidFill>
              <a:srgbClr val="002B36">
                <a:alpha val="14000"/>
              </a:srgbClr>
            </a:solidFill>
            <a:prstDash val="solid"/>
          </a:ln>
        </p:spPr>
      </p:sp>
      <p:sp>
        <p:nvSpPr>
          <p:cNvPr id="7" name="Text 4"/>
          <p:cNvSpPr/>
          <p:nvPr/>
        </p:nvSpPr>
        <p:spPr>
          <a:xfrm>
            <a:off x="1529773" y="6256644"/>
            <a:ext cx="7051848"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EN — ENGLISH</a:t>
            </a:r>
            <a:endParaRPr lang="en-US" sz="1800" dirty="0"/>
          </a:p>
        </p:txBody>
      </p:sp>
      <p:sp>
        <p:nvSpPr>
          <p:cNvPr id="8" name="Text 5"/>
          <p:cNvSpPr/>
          <p:nvPr/>
        </p:nvSpPr>
        <p:spPr>
          <a:xfrm>
            <a:off x="1529773" y="7106948"/>
            <a:ext cx="7051848" cy="1580861"/>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002B36"/>
                </a:solidFill>
                <a:latin typeface="Arial" pitchFamily="34" charset="0"/>
                <a:ea typeface="Arial" pitchFamily="34" charset="-122"/>
                <a:cs typeface="Arial" pitchFamily="34" charset="-120"/>
              </a:rPr>
              <a:t>Vault secured. We noticed something on this device. Here is what to do next. Continue, or review the activity from the last seven days.</a:t>
            </a:r>
            <a:endParaRPr lang="en-US" sz="2250" dirty="0"/>
          </a:p>
        </p:txBody>
      </p:sp>
      <p:sp>
        <p:nvSpPr>
          <p:cNvPr id="9" name="Shape 6"/>
          <p:cNvSpPr/>
          <p:nvPr/>
        </p:nvSpPr>
        <p:spPr>
          <a:xfrm>
            <a:off x="1529773" y="9240242"/>
            <a:ext cx="6846454" cy="9525"/>
          </a:xfrm>
          <a:prstGeom prst="rect">
            <a:avLst/>
          </a:prstGeom>
          <a:solidFill>
            <a:srgbClr val="002B36">
              <a:alpha val="16000"/>
            </a:srgbClr>
          </a:solidFill>
          <a:ln/>
        </p:spPr>
      </p:sp>
      <p:sp>
        <p:nvSpPr>
          <p:cNvPr id="10" name="Text 7"/>
          <p:cNvSpPr/>
          <p:nvPr/>
        </p:nvSpPr>
        <p:spPr>
          <a:xfrm>
            <a:off x="1529773" y="9474578"/>
            <a:ext cx="3408213" cy="297873"/>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586E75"/>
                </a:solidFill>
                <a:latin typeface="Arial" pitchFamily="34" charset="0"/>
                <a:ea typeface="Arial" pitchFamily="34" charset="-122"/>
                <a:cs typeface="Arial" pitchFamily="34" charset="-120"/>
              </a:rPr>
              <a:t>STRINGS</a:t>
            </a:r>
            <a:endParaRPr lang="en-US" sz="1800" dirty="0"/>
          </a:p>
        </p:txBody>
      </p:sp>
      <p:sp>
        <p:nvSpPr>
          <p:cNvPr id="11" name="Text 8"/>
          <p:cNvSpPr/>
          <p:nvPr/>
        </p:nvSpPr>
        <p:spPr>
          <a:xfrm>
            <a:off x="1529773" y="9734351"/>
            <a:ext cx="3408213" cy="390236"/>
          </a:xfrm>
          <a:prstGeom prst="rect">
            <a:avLst/>
          </a:prstGeom>
          <a:noFill/>
          <a:ln/>
        </p:spPr>
        <p:txBody>
          <a:bodyPr wrap="square" lIns="25400" tIns="25400" rIns="25400" bIns="25400" rtlCol="0" anchor="t">
            <a:normAutofit/>
          </a:bodyPr>
          <a:lstStyle/>
          <a:p>
            <a:pPr algn="l" indent="0" marL="0">
              <a:buNone/>
            </a:pPr>
            <a:r>
              <a:rPr lang="en-US" sz="2400" dirty="0">
                <a:solidFill>
                  <a:srgbClr val="002B36"/>
                </a:solidFill>
                <a:latin typeface="Arial" pitchFamily="34" charset="0"/>
                <a:ea typeface="Arial" pitchFamily="34" charset="-122"/>
                <a:cs typeface="Arial" pitchFamily="34" charset="-120"/>
              </a:rPr>
              <a:t>2,418</a:t>
            </a:r>
            <a:endParaRPr lang="en-US" sz="2400" dirty="0"/>
          </a:p>
        </p:txBody>
      </p:sp>
      <p:sp>
        <p:nvSpPr>
          <p:cNvPr id="12" name="Text 9"/>
          <p:cNvSpPr/>
          <p:nvPr/>
        </p:nvSpPr>
        <p:spPr>
          <a:xfrm>
            <a:off x="5067281" y="9474578"/>
            <a:ext cx="3408213" cy="297873"/>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586E75"/>
                </a:solidFill>
                <a:latin typeface="Arial" pitchFamily="34" charset="0"/>
                <a:ea typeface="Arial" pitchFamily="34" charset="-122"/>
                <a:cs typeface="Arial" pitchFamily="34" charset="-120"/>
              </a:rPr>
              <a:t>COVERAGE</a:t>
            </a:r>
            <a:endParaRPr lang="en-US" sz="1800" dirty="0"/>
          </a:p>
        </p:txBody>
      </p:sp>
      <p:sp>
        <p:nvSpPr>
          <p:cNvPr id="13" name="Text 10"/>
          <p:cNvSpPr/>
          <p:nvPr/>
        </p:nvSpPr>
        <p:spPr>
          <a:xfrm>
            <a:off x="5067281" y="9734351"/>
            <a:ext cx="3408213" cy="390236"/>
          </a:xfrm>
          <a:prstGeom prst="rect">
            <a:avLst/>
          </a:prstGeom>
          <a:noFill/>
          <a:ln/>
        </p:spPr>
        <p:txBody>
          <a:bodyPr wrap="square" lIns="25400" tIns="25400" rIns="25400" bIns="25400" rtlCol="0" anchor="t">
            <a:normAutofit/>
          </a:bodyPr>
          <a:lstStyle/>
          <a:p>
            <a:pPr algn="l" indent="0" marL="0">
              <a:buNone/>
            </a:pPr>
            <a:r>
              <a:rPr lang="en-US" sz="2400" dirty="0">
                <a:solidFill>
                  <a:srgbClr val="002B36"/>
                </a:solidFill>
                <a:latin typeface="Arial" pitchFamily="34" charset="0"/>
                <a:ea typeface="Arial" pitchFamily="34" charset="-122"/>
                <a:cs typeface="Arial" pitchFamily="34" charset="-120"/>
              </a:rPr>
              <a:t>100%</a:t>
            </a:r>
            <a:endParaRPr lang="en-US" sz="2400" dirty="0"/>
          </a:p>
        </p:txBody>
      </p:sp>
      <p:sp>
        <p:nvSpPr>
          <p:cNvPr id="14" name="Shape 11"/>
          <p:cNvSpPr/>
          <p:nvPr/>
        </p:nvSpPr>
        <p:spPr>
          <a:xfrm>
            <a:off x="9524999" y="5908025"/>
            <a:ext cx="7619999" cy="4527081"/>
          </a:xfrm>
          <a:prstGeom prst="roundRect">
            <a:avLst>
              <a:gd name="adj" fmla="val 4208"/>
            </a:avLst>
          </a:prstGeom>
          <a:solidFill>
            <a:srgbClr val="FDFCF7"/>
          </a:solidFill>
          <a:ln w="5773">
            <a:solidFill>
              <a:srgbClr val="002B36">
                <a:alpha val="14000"/>
              </a:srgbClr>
            </a:solidFill>
            <a:prstDash val="solid"/>
          </a:ln>
        </p:spPr>
      </p:sp>
      <p:sp>
        <p:nvSpPr>
          <p:cNvPr id="15" name="Text 12"/>
          <p:cNvSpPr/>
          <p:nvPr/>
        </p:nvSpPr>
        <p:spPr>
          <a:xfrm>
            <a:off x="9911772" y="6256644"/>
            <a:ext cx="7051848"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FR — FRANÇAIS (QUÉBEC)</a:t>
            </a:r>
            <a:endParaRPr lang="en-US" sz="1800" dirty="0"/>
          </a:p>
        </p:txBody>
      </p:sp>
      <p:sp>
        <p:nvSpPr>
          <p:cNvPr id="16" name="Text 13"/>
          <p:cNvSpPr/>
          <p:nvPr/>
        </p:nvSpPr>
        <p:spPr>
          <a:xfrm>
            <a:off x="9911772" y="7106948"/>
            <a:ext cx="7051848" cy="1580861"/>
          </a:xfrm>
          <a:prstGeom prst="rect">
            <a:avLst/>
          </a:prstGeom>
          <a:noFill/>
          <a:ln/>
        </p:spPr>
        <p:txBody>
          <a:bodyPr wrap="square" lIns="25400" tIns="25400" rIns="25400" bIns="25400" rtlCol="0" anchor="t">
            <a:normAutofit/>
          </a:bodyPr>
          <a:lstStyle/>
          <a:p>
            <a:pPr algn="l" indent="0" marL="0">
              <a:lnSpc>
                <a:spcPct val="135000"/>
              </a:lnSpc>
              <a:buNone/>
            </a:pPr>
            <a:r>
              <a:rPr lang="en-US" sz="2250" spc="-11" kern="0" dirty="0">
                <a:solidFill>
                  <a:srgbClr val="002B36"/>
                </a:solidFill>
                <a:latin typeface="Arial" pitchFamily="34" charset="0"/>
                <a:ea typeface="Arial" pitchFamily="34" charset="-122"/>
                <a:cs typeface="Arial" pitchFamily="34" charset="-120"/>
              </a:rPr>
              <a:t>Coffre sécurisé. Nous avons remarqué quelque chose sur cet appareil. Voici ce qu'il faut faire ensuite. Continuer, ou consulter l'activité des sept derniers jours.</a:t>
            </a:r>
            <a:endParaRPr lang="en-US" sz="2250" dirty="0"/>
          </a:p>
        </p:txBody>
      </p:sp>
      <p:sp>
        <p:nvSpPr>
          <p:cNvPr id="17" name="Shape 14"/>
          <p:cNvSpPr/>
          <p:nvPr/>
        </p:nvSpPr>
        <p:spPr>
          <a:xfrm>
            <a:off x="9911772" y="9240242"/>
            <a:ext cx="6846454" cy="9525"/>
          </a:xfrm>
          <a:prstGeom prst="rect">
            <a:avLst/>
          </a:prstGeom>
          <a:solidFill>
            <a:srgbClr val="002B36">
              <a:alpha val="16000"/>
            </a:srgbClr>
          </a:solidFill>
          <a:ln/>
        </p:spPr>
      </p:sp>
      <p:sp>
        <p:nvSpPr>
          <p:cNvPr id="18" name="Text 15"/>
          <p:cNvSpPr/>
          <p:nvPr/>
        </p:nvSpPr>
        <p:spPr>
          <a:xfrm>
            <a:off x="9911772" y="9474578"/>
            <a:ext cx="3408213" cy="297873"/>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586E75"/>
                </a:solidFill>
                <a:latin typeface="Arial" pitchFamily="34" charset="0"/>
                <a:ea typeface="Arial" pitchFamily="34" charset="-122"/>
                <a:cs typeface="Arial" pitchFamily="34" charset="-120"/>
              </a:rPr>
              <a:t>CHAÎNES</a:t>
            </a:r>
            <a:endParaRPr lang="en-US" sz="1800" dirty="0"/>
          </a:p>
        </p:txBody>
      </p:sp>
      <p:sp>
        <p:nvSpPr>
          <p:cNvPr id="19" name="Text 16"/>
          <p:cNvSpPr/>
          <p:nvPr/>
        </p:nvSpPr>
        <p:spPr>
          <a:xfrm>
            <a:off x="9911772" y="9734351"/>
            <a:ext cx="3408213" cy="390236"/>
          </a:xfrm>
          <a:prstGeom prst="rect">
            <a:avLst/>
          </a:prstGeom>
          <a:noFill/>
          <a:ln/>
        </p:spPr>
        <p:txBody>
          <a:bodyPr wrap="square" lIns="25400" tIns="25400" rIns="25400" bIns="25400" rtlCol="0" anchor="t">
            <a:normAutofit/>
          </a:bodyPr>
          <a:lstStyle/>
          <a:p>
            <a:pPr algn="l" indent="0" marL="0">
              <a:buNone/>
            </a:pPr>
            <a:r>
              <a:rPr lang="en-US" sz="2400" dirty="0">
                <a:solidFill>
                  <a:srgbClr val="002B36"/>
                </a:solidFill>
                <a:latin typeface="Arial" pitchFamily="34" charset="0"/>
                <a:ea typeface="Arial" pitchFamily="34" charset="-122"/>
                <a:cs typeface="Arial" pitchFamily="34" charset="-120"/>
              </a:rPr>
              <a:t>2,418</a:t>
            </a:r>
            <a:endParaRPr lang="en-US" sz="2400" dirty="0"/>
          </a:p>
        </p:txBody>
      </p:sp>
      <p:sp>
        <p:nvSpPr>
          <p:cNvPr id="20" name="Text 17"/>
          <p:cNvSpPr/>
          <p:nvPr/>
        </p:nvSpPr>
        <p:spPr>
          <a:xfrm>
            <a:off x="13449281" y="9474578"/>
            <a:ext cx="3408213" cy="297873"/>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586E75"/>
                </a:solidFill>
                <a:latin typeface="Arial" pitchFamily="34" charset="0"/>
                <a:ea typeface="Arial" pitchFamily="34" charset="-122"/>
                <a:cs typeface="Arial" pitchFamily="34" charset="-120"/>
              </a:rPr>
              <a:t>COUVERTURE</a:t>
            </a:r>
            <a:endParaRPr lang="en-US" sz="1800" dirty="0"/>
          </a:p>
        </p:txBody>
      </p:sp>
      <p:sp>
        <p:nvSpPr>
          <p:cNvPr id="21" name="Text 18"/>
          <p:cNvSpPr/>
          <p:nvPr/>
        </p:nvSpPr>
        <p:spPr>
          <a:xfrm>
            <a:off x="13449281" y="9734351"/>
            <a:ext cx="3408213" cy="390236"/>
          </a:xfrm>
          <a:prstGeom prst="rect">
            <a:avLst/>
          </a:prstGeom>
          <a:noFill/>
          <a:ln/>
        </p:spPr>
        <p:txBody>
          <a:bodyPr wrap="square" lIns="25400" tIns="25400" rIns="25400" bIns="25400" rtlCol="0" anchor="t">
            <a:normAutofit/>
          </a:bodyPr>
          <a:lstStyle/>
          <a:p>
            <a:pPr algn="l" indent="0" marL="0">
              <a:buNone/>
            </a:pPr>
            <a:r>
              <a:rPr lang="en-US" sz="2400" dirty="0">
                <a:solidFill>
                  <a:srgbClr val="002B36"/>
                </a:solidFill>
                <a:latin typeface="Arial" pitchFamily="34" charset="0"/>
                <a:ea typeface="Arial" pitchFamily="34" charset="-122"/>
                <a:cs typeface="Arial" pitchFamily="34" charset="-120"/>
              </a:rPr>
              <a:t>100%</a:t>
            </a:r>
            <a:endParaRPr lang="en-US" sz="2400" dirty="0"/>
          </a:p>
        </p:txBody>
      </p:sp>
      <p:sp>
        <p:nvSpPr>
          <p:cNvPr id="22" name="Text 19"/>
          <p:cNvSpPr/>
          <p:nvPr/>
        </p:nvSpPr>
        <p:spPr>
          <a:xfrm>
            <a:off x="1143000" y="10968451"/>
            <a:ext cx="10022387"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FR strings run 15–20% longer — layouts are tested for it</a:t>
            </a:r>
            <a:endParaRPr lang="en-US" sz="1800" dirty="0"/>
          </a:p>
        </p:txBody>
      </p:sp>
      <p:sp>
        <p:nvSpPr>
          <p:cNvPr id="23" name="Text 20"/>
          <p:cNvSpPr/>
          <p:nvPr/>
        </p:nvSpPr>
        <p:spPr>
          <a:xfrm>
            <a:off x="15928667" y="10968451"/>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08 / 10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1143000" y="1032146"/>
            <a:ext cx="3937399"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09 — LANGUAGE WE AVOID</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2466488"/>
            <a:ext cx="16482059" cy="918170"/>
          </a:xfrm>
          <a:prstGeom prst="rect">
            <a:avLst/>
          </a:prstGeom>
          <a:noFill/>
          <a:ln/>
        </p:spPr>
        <p:txBody>
          <a:bodyPr wrap="square" lIns="25400" tIns="25400" rIns="25400" bIns="25400" rtlCol="0" anchor="t">
            <a:normAutofit/>
          </a:bodyPr>
          <a:lstStyle/>
          <a:p>
            <a:pPr algn="l" indent="0" marL="0">
              <a:lnSpc>
                <a:spcPct val="105000"/>
              </a:lnSpc>
              <a:buNone/>
            </a:pPr>
            <a:r>
              <a:rPr lang="en-US" sz="6600" spc="-165" kern="0" dirty="0">
                <a:solidFill>
                  <a:srgbClr val="002B36"/>
                </a:solidFill>
                <a:latin typeface="Arial" pitchFamily="34" charset="0"/>
                <a:ea typeface="Arial" pitchFamily="34" charset="-122"/>
                <a:cs typeface="Arial" pitchFamily="34" charset="-120"/>
              </a:rPr>
              <a:t>What we don't say.</a:t>
            </a:r>
            <a:endParaRPr lang="en-US" sz="6600" dirty="0"/>
          </a:p>
        </p:txBody>
      </p:sp>
      <p:sp>
        <p:nvSpPr>
          <p:cNvPr id="5" name="Text 2"/>
          <p:cNvSpPr/>
          <p:nvPr/>
        </p:nvSpPr>
        <p:spPr>
          <a:xfrm>
            <a:off x="1143000" y="3984264"/>
            <a:ext cx="12753974" cy="561885"/>
          </a:xfrm>
          <a:prstGeom prst="rect">
            <a:avLst/>
          </a:prstGeom>
          <a:noFill/>
          <a:ln/>
        </p:spPr>
        <p:txBody>
          <a:bodyPr wrap="square" lIns="25400" tIns="25400" rIns="25400" bIns="25400" rtlCol="0" anchor="t">
            <a:normAutofit/>
          </a:bodyPr>
          <a:lstStyle/>
          <a:p>
            <a:pPr algn="l" indent="0" marL="0">
              <a:lnSpc>
                <a:spcPct val="125000"/>
              </a:lnSpc>
              <a:buNone/>
            </a:pPr>
            <a:r>
              <a:rPr lang="en-US" sz="3300" spc="-33" kern="0" dirty="0">
                <a:solidFill>
                  <a:srgbClr val="586E75"/>
                </a:solidFill>
                <a:latin typeface="Arial" pitchFamily="34" charset="0"/>
                <a:ea typeface="Arial" pitchFamily="34" charset="-122"/>
                <a:cs typeface="Arial" pitchFamily="34" charset="-120"/>
              </a:rPr>
              <a:t>Ce que nous ne disons pas. Small editing decisions are not small.</a:t>
            </a:r>
            <a:endParaRPr lang="en-US" sz="3300" dirty="0"/>
          </a:p>
        </p:txBody>
      </p:sp>
      <p:sp>
        <p:nvSpPr>
          <p:cNvPr id="6" name="Shape 3"/>
          <p:cNvSpPr/>
          <p:nvPr/>
        </p:nvSpPr>
        <p:spPr>
          <a:xfrm>
            <a:off x="1143000" y="5536677"/>
            <a:ext cx="16001999" cy="9525"/>
          </a:xfrm>
          <a:prstGeom prst="rect">
            <a:avLst/>
          </a:prstGeom>
          <a:solidFill>
            <a:srgbClr val="002B36">
              <a:alpha val="18000"/>
            </a:srgbClr>
          </a:solidFill>
          <a:ln/>
        </p:spPr>
      </p:sp>
      <p:sp>
        <p:nvSpPr>
          <p:cNvPr id="7" name="Text 4"/>
          <p:cNvSpPr/>
          <p:nvPr/>
        </p:nvSpPr>
        <p:spPr>
          <a:xfrm>
            <a:off x="1143000" y="5694849"/>
            <a:ext cx="7456169" cy="297782"/>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Arial" pitchFamily="34" charset="0"/>
                <a:ea typeface="Arial" pitchFamily="34" charset="-122"/>
                <a:cs typeface="Arial" pitchFamily="34" charset="-120"/>
              </a:rPr>
              <a:t>WE DON'T SAY</a:t>
            </a:r>
            <a:endParaRPr lang="en-US" sz="1800" dirty="0"/>
          </a:p>
        </p:txBody>
      </p:sp>
      <p:sp>
        <p:nvSpPr>
          <p:cNvPr id="8" name="Text 5"/>
          <p:cNvSpPr/>
          <p:nvPr/>
        </p:nvSpPr>
        <p:spPr>
          <a:xfrm>
            <a:off x="8724899" y="5694849"/>
            <a:ext cx="838200" cy="297782"/>
          </a:xfrm>
          <a:prstGeom prst="rect">
            <a:avLst/>
          </a:prstGeom>
          <a:noFill/>
          <a:ln/>
        </p:spPr>
        <p:txBody>
          <a:bodyPr wrap="square" lIns="25400" tIns="25400" rIns="25400" bIns="25400" rtlCol="0" anchor="t">
            <a:normAutofit/>
          </a:bodyPr>
          <a:lstStyle/>
          <a:p>
            <a:pPr algn="ctr" indent="0" marL="0">
              <a:buNone/>
            </a:pPr>
            <a:r>
              <a:rPr lang="en-US" sz="1800" spc="288" kern="0" dirty="0">
                <a:solidFill>
                  <a:srgbClr val="586E75"/>
                </a:solidFill>
                <a:latin typeface="Arial" pitchFamily="34" charset="0"/>
                <a:ea typeface="Arial" pitchFamily="34" charset="-122"/>
                <a:cs typeface="Arial" pitchFamily="34" charset="-120"/>
              </a:rPr>
              <a:t>→</a:t>
            </a:r>
            <a:endParaRPr lang="en-US" sz="1800" dirty="0"/>
          </a:p>
        </p:txBody>
      </p:sp>
      <p:sp>
        <p:nvSpPr>
          <p:cNvPr id="9" name="Text 6"/>
          <p:cNvSpPr/>
          <p:nvPr/>
        </p:nvSpPr>
        <p:spPr>
          <a:xfrm>
            <a:off x="9905999" y="5694849"/>
            <a:ext cx="7456169" cy="297782"/>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Arial" pitchFamily="34" charset="0"/>
                <a:ea typeface="Arial" pitchFamily="34" charset="-122"/>
                <a:cs typeface="Arial" pitchFamily="34" charset="-120"/>
              </a:rPr>
              <a:t>WE SAY</a:t>
            </a:r>
            <a:endParaRPr lang="en-US" sz="1800" dirty="0"/>
          </a:p>
        </p:txBody>
      </p:sp>
      <p:sp>
        <p:nvSpPr>
          <p:cNvPr id="10" name="Shape 7"/>
          <p:cNvSpPr/>
          <p:nvPr/>
        </p:nvSpPr>
        <p:spPr>
          <a:xfrm>
            <a:off x="1143000" y="7178386"/>
            <a:ext cx="7238999" cy="9525"/>
          </a:xfrm>
          <a:prstGeom prst="rect">
            <a:avLst/>
          </a:prstGeom>
          <a:solidFill>
            <a:srgbClr val="002B36">
              <a:alpha val="10000"/>
            </a:srgbClr>
          </a:solidFill>
          <a:ln/>
        </p:spPr>
      </p:sp>
      <p:sp>
        <p:nvSpPr>
          <p:cNvPr id="11" name="Text 8"/>
          <p:cNvSpPr/>
          <p:nvPr/>
        </p:nvSpPr>
        <p:spPr>
          <a:xfrm>
            <a:off x="1143000" y="6487932"/>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strike="sngStrike" dirty="0">
                <a:solidFill>
                  <a:srgbClr val="586E75"/>
                </a:solidFill>
                <a:latin typeface="Arial" pitchFamily="34" charset="0"/>
                <a:ea typeface="Arial" pitchFamily="34" charset="-122"/>
                <a:cs typeface="Arial" pitchFamily="34" charset="-120"/>
              </a:rPr>
              <a:t>"Just" / "simply" / "easy"</a:t>
            </a:r>
            <a:endParaRPr lang="en-US" sz="2250" dirty="0"/>
          </a:p>
        </p:txBody>
      </p:sp>
      <p:sp>
        <p:nvSpPr>
          <p:cNvPr id="12" name="Shape 9"/>
          <p:cNvSpPr/>
          <p:nvPr/>
        </p:nvSpPr>
        <p:spPr>
          <a:xfrm>
            <a:off x="8762999" y="7165487"/>
            <a:ext cx="762000" cy="9525"/>
          </a:xfrm>
          <a:prstGeom prst="rect">
            <a:avLst/>
          </a:prstGeom>
          <a:solidFill>
            <a:srgbClr val="002B36">
              <a:alpha val="10000"/>
            </a:srgbClr>
          </a:solidFill>
          <a:ln/>
        </p:spPr>
      </p:sp>
      <p:sp>
        <p:nvSpPr>
          <p:cNvPr id="13" name="Text 10"/>
          <p:cNvSpPr/>
          <p:nvPr/>
        </p:nvSpPr>
        <p:spPr>
          <a:xfrm>
            <a:off x="8724899" y="6500740"/>
            <a:ext cx="838200" cy="398048"/>
          </a:xfrm>
          <a:prstGeom prst="rect">
            <a:avLst/>
          </a:prstGeom>
          <a:noFill/>
          <a:ln/>
        </p:spPr>
        <p:txBody>
          <a:bodyPr wrap="square" lIns="25400" tIns="25400" rIns="25400" bIns="25400" rtlCol="0" anchor="t">
            <a:normAutofit/>
          </a:bodyPr>
          <a:lstStyle/>
          <a:p>
            <a:pPr algn="ctr" indent="0" marL="0">
              <a:lnSpc>
                <a:spcPct val="135000"/>
              </a:lnSpc>
              <a:buNone/>
            </a:pPr>
            <a:r>
              <a:rPr lang="en-US" sz="2100" dirty="0">
                <a:solidFill>
                  <a:srgbClr val="CC9B21"/>
                </a:solidFill>
                <a:latin typeface="Courier New" pitchFamily="34" charset="0"/>
                <a:ea typeface="Courier New" pitchFamily="34" charset="-122"/>
                <a:cs typeface="Courier New" pitchFamily="34" charset="-120"/>
              </a:rPr>
              <a:t>→</a:t>
            </a:r>
            <a:endParaRPr lang="en-US" sz="2100" dirty="0"/>
          </a:p>
        </p:txBody>
      </p:sp>
      <p:sp>
        <p:nvSpPr>
          <p:cNvPr id="14" name="Shape 11"/>
          <p:cNvSpPr/>
          <p:nvPr/>
        </p:nvSpPr>
        <p:spPr>
          <a:xfrm>
            <a:off x="9905999" y="7178386"/>
            <a:ext cx="7238999" cy="9525"/>
          </a:xfrm>
          <a:prstGeom prst="rect">
            <a:avLst/>
          </a:prstGeom>
          <a:solidFill>
            <a:srgbClr val="002B36">
              <a:alpha val="10000"/>
            </a:srgbClr>
          </a:solidFill>
          <a:ln/>
        </p:spPr>
      </p:sp>
      <p:sp>
        <p:nvSpPr>
          <p:cNvPr id="15" name="Text 12"/>
          <p:cNvSpPr/>
          <p:nvPr/>
        </p:nvSpPr>
        <p:spPr>
          <a:xfrm>
            <a:off x="9905999" y="6487932"/>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02B36"/>
                </a:solidFill>
                <a:latin typeface="Arial" pitchFamily="34" charset="0"/>
                <a:ea typeface="Arial" pitchFamily="34" charset="-122"/>
                <a:cs typeface="Arial" pitchFamily="34" charset="-120"/>
              </a:rPr>
              <a:t>Describe the actual steps.</a:t>
            </a:r>
            <a:endParaRPr lang="en-US" sz="2250" dirty="0"/>
          </a:p>
        </p:txBody>
      </p:sp>
      <p:sp>
        <p:nvSpPr>
          <p:cNvPr id="16" name="Shape 13"/>
          <p:cNvSpPr/>
          <p:nvPr/>
        </p:nvSpPr>
        <p:spPr>
          <a:xfrm>
            <a:off x="1143000" y="8179413"/>
            <a:ext cx="7238999" cy="9525"/>
          </a:xfrm>
          <a:prstGeom prst="rect">
            <a:avLst/>
          </a:prstGeom>
          <a:solidFill>
            <a:srgbClr val="002B36">
              <a:alpha val="10000"/>
            </a:srgbClr>
          </a:solidFill>
          <a:ln/>
        </p:spPr>
      </p:sp>
      <p:sp>
        <p:nvSpPr>
          <p:cNvPr id="17" name="Text 14"/>
          <p:cNvSpPr/>
          <p:nvPr/>
        </p:nvSpPr>
        <p:spPr>
          <a:xfrm>
            <a:off x="1143000" y="7488959"/>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strike="sngStrike" dirty="0">
                <a:solidFill>
                  <a:srgbClr val="586E75"/>
                </a:solidFill>
                <a:latin typeface="Arial" pitchFamily="34" charset="0"/>
                <a:ea typeface="Arial" pitchFamily="34" charset="-122"/>
                <a:cs typeface="Arial" pitchFamily="34" charset="-120"/>
              </a:rPr>
              <a:t>"Military-grade encryption"</a:t>
            </a:r>
            <a:endParaRPr lang="en-US" sz="2250" dirty="0"/>
          </a:p>
        </p:txBody>
      </p:sp>
      <p:sp>
        <p:nvSpPr>
          <p:cNvPr id="18" name="Shape 15"/>
          <p:cNvSpPr/>
          <p:nvPr/>
        </p:nvSpPr>
        <p:spPr>
          <a:xfrm>
            <a:off x="8762999" y="8166515"/>
            <a:ext cx="762000" cy="9525"/>
          </a:xfrm>
          <a:prstGeom prst="rect">
            <a:avLst/>
          </a:prstGeom>
          <a:solidFill>
            <a:srgbClr val="002B36">
              <a:alpha val="10000"/>
            </a:srgbClr>
          </a:solidFill>
          <a:ln/>
        </p:spPr>
      </p:sp>
      <p:sp>
        <p:nvSpPr>
          <p:cNvPr id="19" name="Text 16"/>
          <p:cNvSpPr/>
          <p:nvPr/>
        </p:nvSpPr>
        <p:spPr>
          <a:xfrm>
            <a:off x="8724899" y="7501767"/>
            <a:ext cx="838200" cy="398048"/>
          </a:xfrm>
          <a:prstGeom prst="rect">
            <a:avLst/>
          </a:prstGeom>
          <a:noFill/>
          <a:ln/>
        </p:spPr>
        <p:txBody>
          <a:bodyPr wrap="square" lIns="25400" tIns="25400" rIns="25400" bIns="25400" rtlCol="0" anchor="t">
            <a:normAutofit/>
          </a:bodyPr>
          <a:lstStyle/>
          <a:p>
            <a:pPr algn="ctr" indent="0" marL="0">
              <a:lnSpc>
                <a:spcPct val="135000"/>
              </a:lnSpc>
              <a:buNone/>
            </a:pPr>
            <a:r>
              <a:rPr lang="en-US" sz="2100" dirty="0">
                <a:solidFill>
                  <a:srgbClr val="CC9B21"/>
                </a:solidFill>
                <a:latin typeface="Courier New" pitchFamily="34" charset="0"/>
                <a:ea typeface="Courier New" pitchFamily="34" charset="-122"/>
                <a:cs typeface="Courier New" pitchFamily="34" charset="-120"/>
              </a:rPr>
              <a:t>→</a:t>
            </a:r>
            <a:endParaRPr lang="en-US" sz="2100" dirty="0"/>
          </a:p>
        </p:txBody>
      </p:sp>
      <p:sp>
        <p:nvSpPr>
          <p:cNvPr id="20" name="Shape 17"/>
          <p:cNvSpPr/>
          <p:nvPr/>
        </p:nvSpPr>
        <p:spPr>
          <a:xfrm>
            <a:off x="9905999" y="8179413"/>
            <a:ext cx="7238999" cy="9525"/>
          </a:xfrm>
          <a:prstGeom prst="rect">
            <a:avLst/>
          </a:prstGeom>
          <a:solidFill>
            <a:srgbClr val="002B36">
              <a:alpha val="10000"/>
            </a:srgbClr>
          </a:solidFill>
          <a:ln/>
        </p:spPr>
      </p:sp>
      <p:sp>
        <p:nvSpPr>
          <p:cNvPr id="21" name="Text 18"/>
          <p:cNvSpPr/>
          <p:nvPr/>
        </p:nvSpPr>
        <p:spPr>
          <a:xfrm>
            <a:off x="9905999" y="7488959"/>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02B36"/>
                </a:solidFill>
                <a:latin typeface="Arial" pitchFamily="34" charset="0"/>
                <a:ea typeface="Arial" pitchFamily="34" charset="-122"/>
                <a:cs typeface="Arial" pitchFamily="34" charset="-120"/>
              </a:rPr>
              <a:t>Name the algorithm. AES-256-XTS.</a:t>
            </a:r>
            <a:endParaRPr lang="en-US" sz="2250" dirty="0"/>
          </a:p>
        </p:txBody>
      </p:sp>
      <p:sp>
        <p:nvSpPr>
          <p:cNvPr id="22" name="Shape 19"/>
          <p:cNvSpPr/>
          <p:nvPr/>
        </p:nvSpPr>
        <p:spPr>
          <a:xfrm>
            <a:off x="1143000" y="9180439"/>
            <a:ext cx="7238999" cy="9525"/>
          </a:xfrm>
          <a:prstGeom prst="rect">
            <a:avLst/>
          </a:prstGeom>
          <a:solidFill>
            <a:srgbClr val="002B36">
              <a:alpha val="10000"/>
            </a:srgbClr>
          </a:solidFill>
          <a:ln/>
        </p:spPr>
      </p:sp>
      <p:sp>
        <p:nvSpPr>
          <p:cNvPr id="23" name="Text 20"/>
          <p:cNvSpPr/>
          <p:nvPr/>
        </p:nvSpPr>
        <p:spPr>
          <a:xfrm>
            <a:off x="1143000" y="8489985"/>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strike="sngStrike" dirty="0">
                <a:solidFill>
                  <a:srgbClr val="586E75"/>
                </a:solidFill>
                <a:latin typeface="Arial" pitchFamily="34" charset="0"/>
                <a:ea typeface="Arial" pitchFamily="34" charset="-122"/>
                <a:cs typeface="Arial" pitchFamily="34" charset="-120"/>
              </a:rPr>
              <a:t>"CRITICAL SECURITY WARNING"</a:t>
            </a:r>
            <a:endParaRPr lang="en-US" sz="2250" dirty="0"/>
          </a:p>
        </p:txBody>
      </p:sp>
      <p:sp>
        <p:nvSpPr>
          <p:cNvPr id="24" name="Shape 21"/>
          <p:cNvSpPr/>
          <p:nvPr/>
        </p:nvSpPr>
        <p:spPr>
          <a:xfrm>
            <a:off x="8762999" y="9167541"/>
            <a:ext cx="762000" cy="9525"/>
          </a:xfrm>
          <a:prstGeom prst="rect">
            <a:avLst/>
          </a:prstGeom>
          <a:solidFill>
            <a:srgbClr val="002B36">
              <a:alpha val="10000"/>
            </a:srgbClr>
          </a:solidFill>
          <a:ln/>
        </p:spPr>
      </p:sp>
      <p:sp>
        <p:nvSpPr>
          <p:cNvPr id="25" name="Text 22"/>
          <p:cNvSpPr/>
          <p:nvPr/>
        </p:nvSpPr>
        <p:spPr>
          <a:xfrm>
            <a:off x="8724899" y="8502794"/>
            <a:ext cx="838200" cy="398048"/>
          </a:xfrm>
          <a:prstGeom prst="rect">
            <a:avLst/>
          </a:prstGeom>
          <a:noFill/>
          <a:ln/>
        </p:spPr>
        <p:txBody>
          <a:bodyPr wrap="square" lIns="25400" tIns="25400" rIns="25400" bIns="25400" rtlCol="0" anchor="t">
            <a:normAutofit/>
          </a:bodyPr>
          <a:lstStyle/>
          <a:p>
            <a:pPr algn="ctr" indent="0" marL="0">
              <a:lnSpc>
                <a:spcPct val="135000"/>
              </a:lnSpc>
              <a:buNone/>
            </a:pPr>
            <a:r>
              <a:rPr lang="en-US" sz="2100" dirty="0">
                <a:solidFill>
                  <a:srgbClr val="CC9B21"/>
                </a:solidFill>
                <a:latin typeface="Courier New" pitchFamily="34" charset="0"/>
                <a:ea typeface="Courier New" pitchFamily="34" charset="-122"/>
                <a:cs typeface="Courier New" pitchFamily="34" charset="-120"/>
              </a:rPr>
              <a:t>→</a:t>
            </a:r>
            <a:endParaRPr lang="en-US" sz="2100" dirty="0"/>
          </a:p>
        </p:txBody>
      </p:sp>
      <p:sp>
        <p:nvSpPr>
          <p:cNvPr id="26" name="Shape 23"/>
          <p:cNvSpPr/>
          <p:nvPr/>
        </p:nvSpPr>
        <p:spPr>
          <a:xfrm>
            <a:off x="9905999" y="9180439"/>
            <a:ext cx="7238999" cy="9525"/>
          </a:xfrm>
          <a:prstGeom prst="rect">
            <a:avLst/>
          </a:prstGeom>
          <a:solidFill>
            <a:srgbClr val="002B36">
              <a:alpha val="10000"/>
            </a:srgbClr>
          </a:solidFill>
          <a:ln/>
        </p:spPr>
      </p:sp>
      <p:sp>
        <p:nvSpPr>
          <p:cNvPr id="27" name="Text 24"/>
          <p:cNvSpPr/>
          <p:nvPr/>
        </p:nvSpPr>
        <p:spPr>
          <a:xfrm>
            <a:off x="9905999" y="8489985"/>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02B36"/>
                </a:solidFill>
                <a:latin typeface="Arial" pitchFamily="34" charset="0"/>
                <a:ea typeface="Arial" pitchFamily="34" charset="-122"/>
                <a:cs typeface="Arial" pitchFamily="34" charset="-120"/>
              </a:rPr>
              <a:t>"We noticed something. Here's what to do."</a:t>
            </a:r>
            <a:endParaRPr lang="en-US" sz="2250" dirty="0"/>
          </a:p>
        </p:txBody>
      </p:sp>
      <p:sp>
        <p:nvSpPr>
          <p:cNvPr id="28" name="Shape 25"/>
          <p:cNvSpPr/>
          <p:nvPr/>
        </p:nvSpPr>
        <p:spPr>
          <a:xfrm>
            <a:off x="1143000" y="10181467"/>
            <a:ext cx="7238999" cy="9525"/>
          </a:xfrm>
          <a:prstGeom prst="rect">
            <a:avLst/>
          </a:prstGeom>
          <a:solidFill>
            <a:srgbClr val="002B36">
              <a:alpha val="10000"/>
            </a:srgbClr>
          </a:solidFill>
          <a:ln/>
        </p:spPr>
      </p:sp>
      <p:sp>
        <p:nvSpPr>
          <p:cNvPr id="29" name="Text 26"/>
          <p:cNvSpPr/>
          <p:nvPr/>
        </p:nvSpPr>
        <p:spPr>
          <a:xfrm>
            <a:off x="1143000" y="9491013"/>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strike="sngStrike" dirty="0">
                <a:solidFill>
                  <a:srgbClr val="586E75"/>
                </a:solidFill>
                <a:latin typeface="Arial" pitchFamily="34" charset="0"/>
                <a:ea typeface="Arial" pitchFamily="34" charset="-122"/>
                <a:cs typeface="Arial" pitchFamily="34" charset="-120"/>
              </a:rPr>
              <a:t>"Proceed."</a:t>
            </a:r>
            <a:endParaRPr lang="en-US" sz="2250" dirty="0"/>
          </a:p>
        </p:txBody>
      </p:sp>
      <p:sp>
        <p:nvSpPr>
          <p:cNvPr id="30" name="Shape 27"/>
          <p:cNvSpPr/>
          <p:nvPr/>
        </p:nvSpPr>
        <p:spPr>
          <a:xfrm>
            <a:off x="8762999" y="10168568"/>
            <a:ext cx="762000" cy="9525"/>
          </a:xfrm>
          <a:prstGeom prst="rect">
            <a:avLst/>
          </a:prstGeom>
          <a:solidFill>
            <a:srgbClr val="002B36">
              <a:alpha val="10000"/>
            </a:srgbClr>
          </a:solidFill>
          <a:ln/>
        </p:spPr>
      </p:sp>
      <p:sp>
        <p:nvSpPr>
          <p:cNvPr id="31" name="Text 28"/>
          <p:cNvSpPr/>
          <p:nvPr/>
        </p:nvSpPr>
        <p:spPr>
          <a:xfrm>
            <a:off x="8724899" y="9503820"/>
            <a:ext cx="838200" cy="398048"/>
          </a:xfrm>
          <a:prstGeom prst="rect">
            <a:avLst/>
          </a:prstGeom>
          <a:noFill/>
          <a:ln/>
        </p:spPr>
        <p:txBody>
          <a:bodyPr wrap="square" lIns="25400" tIns="25400" rIns="25400" bIns="25400" rtlCol="0" anchor="t">
            <a:normAutofit/>
          </a:bodyPr>
          <a:lstStyle/>
          <a:p>
            <a:pPr algn="ctr" indent="0" marL="0">
              <a:lnSpc>
                <a:spcPct val="135000"/>
              </a:lnSpc>
              <a:buNone/>
            </a:pPr>
            <a:r>
              <a:rPr lang="en-US" sz="2100" dirty="0">
                <a:solidFill>
                  <a:srgbClr val="CC9B21"/>
                </a:solidFill>
                <a:latin typeface="Courier New" pitchFamily="34" charset="0"/>
                <a:ea typeface="Courier New" pitchFamily="34" charset="-122"/>
                <a:cs typeface="Courier New" pitchFamily="34" charset="-120"/>
              </a:rPr>
              <a:t>→</a:t>
            </a:r>
            <a:endParaRPr lang="en-US" sz="2100" dirty="0"/>
          </a:p>
        </p:txBody>
      </p:sp>
      <p:sp>
        <p:nvSpPr>
          <p:cNvPr id="32" name="Shape 29"/>
          <p:cNvSpPr/>
          <p:nvPr/>
        </p:nvSpPr>
        <p:spPr>
          <a:xfrm>
            <a:off x="9905999" y="10181467"/>
            <a:ext cx="7238999" cy="9525"/>
          </a:xfrm>
          <a:prstGeom prst="rect">
            <a:avLst/>
          </a:prstGeom>
          <a:solidFill>
            <a:srgbClr val="002B36">
              <a:alpha val="10000"/>
            </a:srgbClr>
          </a:solidFill>
          <a:ln/>
        </p:spPr>
      </p:sp>
      <p:sp>
        <p:nvSpPr>
          <p:cNvPr id="33" name="Text 30"/>
          <p:cNvSpPr/>
          <p:nvPr/>
        </p:nvSpPr>
        <p:spPr>
          <a:xfrm>
            <a:off x="9905999" y="9491013"/>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02B36"/>
                </a:solidFill>
                <a:latin typeface="Arial" pitchFamily="34" charset="0"/>
                <a:ea typeface="Arial" pitchFamily="34" charset="-122"/>
                <a:cs typeface="Arial" pitchFamily="34" charset="-120"/>
              </a:rPr>
              <a:t>"Continue."</a:t>
            </a:r>
            <a:endParaRPr lang="en-US" sz="2250" dirty="0"/>
          </a:p>
        </p:txBody>
      </p:sp>
      <p:sp>
        <p:nvSpPr>
          <p:cNvPr id="34" name="Shape 31"/>
          <p:cNvSpPr/>
          <p:nvPr/>
        </p:nvSpPr>
        <p:spPr>
          <a:xfrm>
            <a:off x="1143000" y="11182494"/>
            <a:ext cx="7238999" cy="9525"/>
          </a:xfrm>
          <a:prstGeom prst="rect">
            <a:avLst/>
          </a:prstGeom>
          <a:solidFill>
            <a:srgbClr val="002B36">
              <a:alpha val="10000"/>
            </a:srgbClr>
          </a:solidFill>
          <a:ln/>
        </p:spPr>
      </p:sp>
      <p:sp>
        <p:nvSpPr>
          <p:cNvPr id="35" name="Text 32"/>
          <p:cNvSpPr/>
          <p:nvPr/>
        </p:nvSpPr>
        <p:spPr>
          <a:xfrm>
            <a:off x="1143000" y="10492040"/>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strike="sngStrike" dirty="0">
                <a:solidFill>
                  <a:srgbClr val="586E75"/>
                </a:solidFill>
                <a:latin typeface="Arial" pitchFamily="34" charset="0"/>
                <a:ea typeface="Arial" pitchFamily="34" charset="-122"/>
                <a:cs typeface="Arial" pitchFamily="34" charset="-120"/>
              </a:rPr>
              <a:t>"Hacker-proof your life."</a:t>
            </a:r>
            <a:endParaRPr lang="en-US" sz="2250" dirty="0"/>
          </a:p>
        </p:txBody>
      </p:sp>
      <p:sp>
        <p:nvSpPr>
          <p:cNvPr id="36" name="Shape 33"/>
          <p:cNvSpPr/>
          <p:nvPr/>
        </p:nvSpPr>
        <p:spPr>
          <a:xfrm>
            <a:off x="8762999" y="11169595"/>
            <a:ext cx="762000" cy="9525"/>
          </a:xfrm>
          <a:prstGeom prst="rect">
            <a:avLst/>
          </a:prstGeom>
          <a:solidFill>
            <a:srgbClr val="002B36">
              <a:alpha val="10000"/>
            </a:srgbClr>
          </a:solidFill>
          <a:ln/>
        </p:spPr>
      </p:sp>
      <p:sp>
        <p:nvSpPr>
          <p:cNvPr id="37" name="Text 34"/>
          <p:cNvSpPr/>
          <p:nvPr/>
        </p:nvSpPr>
        <p:spPr>
          <a:xfrm>
            <a:off x="8724899" y="10504847"/>
            <a:ext cx="838200" cy="398048"/>
          </a:xfrm>
          <a:prstGeom prst="rect">
            <a:avLst/>
          </a:prstGeom>
          <a:noFill/>
          <a:ln/>
        </p:spPr>
        <p:txBody>
          <a:bodyPr wrap="square" lIns="25400" tIns="25400" rIns="25400" bIns="25400" rtlCol="0" anchor="t">
            <a:normAutofit/>
          </a:bodyPr>
          <a:lstStyle/>
          <a:p>
            <a:pPr algn="ctr" indent="0" marL="0">
              <a:lnSpc>
                <a:spcPct val="135000"/>
              </a:lnSpc>
              <a:buNone/>
            </a:pPr>
            <a:r>
              <a:rPr lang="en-US" sz="2100" dirty="0">
                <a:solidFill>
                  <a:srgbClr val="CC9B21"/>
                </a:solidFill>
                <a:latin typeface="Courier New" pitchFamily="34" charset="0"/>
                <a:ea typeface="Courier New" pitchFamily="34" charset="-122"/>
                <a:cs typeface="Courier New" pitchFamily="34" charset="-120"/>
              </a:rPr>
              <a:t>→</a:t>
            </a:r>
            <a:endParaRPr lang="en-US" sz="2100" dirty="0"/>
          </a:p>
        </p:txBody>
      </p:sp>
      <p:sp>
        <p:nvSpPr>
          <p:cNvPr id="38" name="Shape 35"/>
          <p:cNvSpPr/>
          <p:nvPr/>
        </p:nvSpPr>
        <p:spPr>
          <a:xfrm>
            <a:off x="9905999" y="11182494"/>
            <a:ext cx="7238999" cy="9525"/>
          </a:xfrm>
          <a:prstGeom prst="rect">
            <a:avLst/>
          </a:prstGeom>
          <a:solidFill>
            <a:srgbClr val="002B36">
              <a:alpha val="10000"/>
            </a:srgbClr>
          </a:solidFill>
          <a:ln/>
        </p:spPr>
      </p:sp>
      <p:sp>
        <p:nvSpPr>
          <p:cNvPr id="39" name="Text 36"/>
          <p:cNvSpPr/>
          <p:nvPr/>
        </p:nvSpPr>
        <p:spPr>
          <a:xfrm>
            <a:off x="9905999" y="10492040"/>
            <a:ext cx="7456169" cy="423754"/>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02B36"/>
                </a:solidFill>
                <a:latin typeface="Arial" pitchFamily="34" charset="0"/>
                <a:ea typeface="Arial" pitchFamily="34" charset="-122"/>
                <a:cs typeface="Arial" pitchFamily="34" charset="-120"/>
              </a:rPr>
              <a:t>"Your data. Your device. Your rules."</a:t>
            </a:r>
            <a:endParaRPr lang="en-US" sz="2250" dirty="0"/>
          </a:p>
        </p:txBody>
      </p:sp>
      <p:sp>
        <p:nvSpPr>
          <p:cNvPr id="40" name="Text 37"/>
          <p:cNvSpPr/>
          <p:nvPr/>
        </p:nvSpPr>
        <p:spPr>
          <a:xfrm>
            <a:off x="1143000" y="11721612"/>
            <a:ext cx="6264015"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From the brand voice guide — public</a:t>
            </a:r>
            <a:endParaRPr lang="en-US" sz="1800" dirty="0"/>
          </a:p>
        </p:txBody>
      </p:sp>
      <p:sp>
        <p:nvSpPr>
          <p:cNvPr id="41" name="Text 38"/>
          <p:cNvSpPr/>
          <p:nvPr/>
        </p:nvSpPr>
        <p:spPr>
          <a:xfrm>
            <a:off x="15928667" y="11721612"/>
            <a:ext cx="129253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86E75"/>
                </a:solidFill>
                <a:latin typeface="Courier New" pitchFamily="34" charset="0"/>
                <a:ea typeface="Courier New" pitchFamily="34" charset="-122"/>
                <a:cs typeface="Courier New" pitchFamily="34" charset="-120"/>
              </a:rPr>
              <a:t>09 / 10</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B36"/>
        </a:solidFill>
      </p:bgPr>
    </p:bg>
    <p:spTree>
      <p:nvGrpSpPr>
        <p:cNvPr id="1" name=""/>
        <p:cNvGrpSpPr/>
        <p:nvPr/>
      </p:nvGrpSpPr>
      <p:grpSpPr>
        <a:xfrm>
          <a:off x="0" y="0"/>
          <a:ext cx="0" cy="0"/>
          <a:chOff x="0" y="0"/>
          <a:chExt cx="0" cy="0"/>
        </a:xfrm>
      </p:grpSpPr>
      <p:sp>
        <p:nvSpPr>
          <p:cNvPr id="2" name="Text 0"/>
          <p:cNvSpPr/>
          <p:nvPr/>
        </p:nvSpPr>
        <p:spPr>
          <a:xfrm>
            <a:off x="1143000" y="1032146"/>
            <a:ext cx="1813791"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10 — CLOSE</a:t>
            </a:r>
            <a:endParaRPr lang="en-US" sz="1800" dirty="0"/>
          </a:p>
        </p:txBody>
      </p:sp>
      <p:pic>
        <p:nvPicPr>
          <p:cNvPr id="3" name="Image 0" descr="preencoded.png">    </p:cNvPr>
          <p:cNvPicPr>
            <a:picLocks noChangeAspect="1"/>
          </p:cNvPicPr>
          <p:nvPr/>
        </p:nvPicPr>
        <p:blipFill>
          <a:blip r:embed="rId1"/>
          <a:srcRect l="0" r="0" t="0" b="0"/>
          <a:stretch/>
        </p:blipFill>
        <p:spPr>
          <a:xfrm>
            <a:off x="16725935" y="952500"/>
            <a:ext cx="419064" cy="419064"/>
          </a:xfrm>
          <a:prstGeom prst="rect">
            <a:avLst/>
          </a:prstGeom>
        </p:spPr>
      </p:pic>
      <p:sp>
        <p:nvSpPr>
          <p:cNvPr id="4" name="Text 1"/>
          <p:cNvSpPr/>
          <p:nvPr/>
        </p:nvSpPr>
        <p:spPr>
          <a:xfrm>
            <a:off x="1143000" y="1904910"/>
            <a:ext cx="16482059" cy="4742692"/>
          </a:xfrm>
          <a:prstGeom prst="rect">
            <a:avLst/>
          </a:prstGeom>
          <a:noFill/>
          <a:ln/>
        </p:spPr>
        <p:txBody>
          <a:bodyPr wrap="square" lIns="25400" tIns="25400" rIns="25400" bIns="25400" rtlCol="0" anchor="t">
            <a:normAutofit/>
          </a:bodyPr>
          <a:lstStyle/>
          <a:p>
            <a:pPr algn="l" indent="0" marL="0">
              <a:lnSpc>
                <a:spcPct val="98000"/>
              </a:lnSpc>
              <a:buNone/>
            </a:pPr>
            <a:r>
              <a:rPr lang="en-US" sz="12600" spc="-504" kern="0" dirty="0">
                <a:solidFill>
                  <a:srgbClr val="FDF6E3"/>
                </a:solidFill>
                <a:latin typeface="Arial" pitchFamily="34" charset="0"/>
                <a:ea typeface="Arial" pitchFamily="34" charset="-122"/>
                <a:cs typeface="Arial" pitchFamily="34" charset="-120"/>
              </a:rPr>
              <a:t>Your data. Your device. </a:t>
            </a:r>
            <a:pPr algn="l" indent="0" marL="0">
              <a:lnSpc>
                <a:spcPct val="98000"/>
              </a:lnSpc>
              <a:buNone/>
            </a:pPr>
            <a:r>
              <a:rPr lang="en-US" sz="12600" spc="-504" kern="0" dirty="0">
                <a:solidFill>
                  <a:srgbClr val="CC9B21"/>
                </a:solidFill>
                <a:latin typeface="Arial" pitchFamily="34" charset="0"/>
                <a:ea typeface="Arial" pitchFamily="34" charset="-122"/>
                <a:cs typeface="Arial" pitchFamily="34" charset="-120"/>
              </a:rPr>
              <a:t>Your rules.</a:t>
            </a:r>
            <a:endParaRPr lang="en-US" sz="12600" dirty="0"/>
          </a:p>
        </p:txBody>
      </p:sp>
      <p:sp>
        <p:nvSpPr>
          <p:cNvPr id="5" name="Text 2"/>
          <p:cNvSpPr/>
          <p:nvPr/>
        </p:nvSpPr>
        <p:spPr>
          <a:xfrm>
            <a:off x="1143000" y="7142848"/>
            <a:ext cx="16482059" cy="651542"/>
          </a:xfrm>
          <a:prstGeom prst="rect">
            <a:avLst/>
          </a:prstGeom>
          <a:noFill/>
          <a:ln/>
        </p:spPr>
        <p:txBody>
          <a:bodyPr wrap="square" lIns="25400" tIns="25400" rIns="25400" bIns="25400" rtlCol="0" anchor="t">
            <a:normAutofit/>
          </a:bodyPr>
          <a:lstStyle/>
          <a:p>
            <a:pPr algn="l" indent="0" marL="0">
              <a:lnSpc>
                <a:spcPct val="115000"/>
              </a:lnSpc>
              <a:buNone/>
            </a:pPr>
            <a:r>
              <a:rPr lang="en-US" sz="4200" spc="-42" kern="0" dirty="0">
                <a:solidFill>
                  <a:srgbClr val="FDF6E3">
                    <a:alpha val="60000"/>
                  </a:srgbClr>
                </a:solidFill>
                <a:latin typeface="Arial" pitchFamily="34" charset="0"/>
                <a:ea typeface="Arial" pitchFamily="34" charset="-122"/>
                <a:cs typeface="Arial" pitchFamily="34" charset="-120"/>
              </a:rPr>
              <a:t>Vos données. Votre appareil. Vos règles.</a:t>
            </a:r>
            <a:endParaRPr lang="en-US" sz="4200" dirty="0"/>
          </a:p>
        </p:txBody>
      </p:sp>
      <p:pic>
        <p:nvPicPr>
          <p:cNvPr id="6" name="Image 1" descr="preencoded.png">    </p:cNvPr>
          <p:cNvPicPr>
            <a:picLocks noChangeAspect="1"/>
          </p:cNvPicPr>
          <p:nvPr/>
        </p:nvPicPr>
        <p:blipFill>
          <a:blip r:embed="rId2">
            <a:alphaModFix amt="92000"/>
          </a:blip>
          <a:stretch>
            <a:fillRect/>
          </a:stretch>
        </p:blipFill>
        <p:spPr>
          <a:xfrm>
            <a:off x="1143000" y="8801153"/>
            <a:ext cx="2755575" cy="533346"/>
          </a:xfrm>
          <a:prstGeom prst="rect">
            <a:avLst/>
          </a:prstGeom>
        </p:spPr>
      </p:pic>
      <p:sp>
        <p:nvSpPr>
          <p:cNvPr id="7" name="Text 3"/>
          <p:cNvSpPr/>
          <p:nvPr/>
        </p:nvSpPr>
        <p:spPr>
          <a:xfrm>
            <a:off x="10542172" y="9074727"/>
            <a:ext cx="6800912" cy="29787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FDF6E3">
                    <a:alpha val="55000"/>
                  </a:srgbClr>
                </a:solidFill>
                <a:latin typeface="Courier New" pitchFamily="34" charset="0"/>
                <a:ea typeface="Courier New" pitchFamily="34" charset="-122"/>
                <a:cs typeface="Courier New" pitchFamily="34" charset="-120"/>
              </a:rPr>
              <a:t>vaultwares.com · @vaultwares · 10 / 10</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2026-05-10T05:08:33Z</dcterms:created>
  <dcterms:modified xsi:type="dcterms:W3CDTF">2026-05-10T05:08:33Z</dcterms:modified>
</cp:coreProperties>
</file>